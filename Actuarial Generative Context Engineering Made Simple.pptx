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  <p:sldMasterId id="2147483705" r:id="rId2"/>
    <p:sldMasterId id="2147483660" r:id="rId3"/>
    <p:sldMasterId id="2147483690" r:id="rId4"/>
  </p:sldMasterIdLst>
  <p:notesMasterIdLst>
    <p:notesMasterId r:id="rId13"/>
  </p:notesMasterIdLst>
  <p:sldIdLst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ADC9"/>
    <a:srgbClr val="17212B"/>
    <a:srgbClr val="FFFFFF"/>
    <a:srgbClr val="9D7B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 autoAdjust="0"/>
  </p:normalViewPr>
  <p:slideViewPr>
    <p:cSldViewPr snapToGrid="0">
      <p:cViewPr varScale="1">
        <p:scale>
          <a:sx n="102" d="100"/>
          <a:sy n="102" d="100"/>
        </p:scale>
        <p:origin x="954" y="3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434F4-C773-4974-B845-79544B7DA9C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492AF-DAAA-4308-9C60-8617B84970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120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315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  <a:prstGeom prst="rect">
            <a:avLst/>
          </a:prstGeo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17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127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  <a:prstGeom prst="rect">
            <a:avLst/>
          </a:prstGeo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2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587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98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354ADBD-255C-5946-B2EA-04676DC8C18D}"/>
              </a:ext>
            </a:extLst>
          </p:cNvPr>
          <p:cNvGrpSpPr/>
          <p:nvPr userDrawn="1"/>
        </p:nvGrpSpPr>
        <p:grpSpPr>
          <a:xfrm>
            <a:off x="0" y="6155172"/>
            <a:ext cx="12192000" cy="702828"/>
            <a:chOff x="0" y="0"/>
            <a:chExt cx="12192000" cy="70282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6C1C328-0AFB-0140-3346-C69D053E33EB}"/>
                </a:ext>
              </a:extLst>
            </p:cNvPr>
            <p:cNvSpPr/>
            <p:nvPr/>
          </p:nvSpPr>
          <p:spPr>
            <a:xfrm>
              <a:off x="0" y="0"/>
              <a:ext cx="12192000" cy="702828"/>
            </a:xfrm>
            <a:prstGeom prst="rect">
              <a:avLst/>
            </a:prstGeom>
            <a:solidFill>
              <a:srgbClr val="17212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2CA9B43-263C-09C6-7424-EDE235CB7C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0107" y="0"/>
              <a:ext cx="3063569" cy="7016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96439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AF9C11F-968B-31EB-5E3D-DEB48143EE28}"/>
              </a:ext>
            </a:extLst>
          </p:cNvPr>
          <p:cNvGrpSpPr/>
          <p:nvPr userDrawn="1"/>
        </p:nvGrpSpPr>
        <p:grpSpPr>
          <a:xfrm>
            <a:off x="0" y="6155172"/>
            <a:ext cx="12192000" cy="702828"/>
            <a:chOff x="0" y="0"/>
            <a:chExt cx="12192000" cy="702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8C92E20-94BC-88E2-5E1F-6656A322ECE2}"/>
                </a:ext>
              </a:extLst>
            </p:cNvPr>
            <p:cNvSpPr/>
            <p:nvPr/>
          </p:nvSpPr>
          <p:spPr>
            <a:xfrm>
              <a:off x="0" y="0"/>
              <a:ext cx="12192000" cy="702828"/>
            </a:xfrm>
            <a:prstGeom prst="rect">
              <a:avLst/>
            </a:prstGeom>
            <a:solidFill>
              <a:srgbClr val="17212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7A3CD6A-1A46-7477-ADEA-908992D74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0107" y="0"/>
              <a:ext cx="3063569" cy="7016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56610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237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776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6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0023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273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3580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1682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202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48844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  <a:prstGeom prst="rect">
            <a:avLst/>
          </a:prstGeo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/>
          <a:lstStyle/>
          <a:p>
            <a:fld id="{D6BE4793-EB6E-4246-9E7B-350CE75312EA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/>
          <a:lstStyle/>
          <a:p>
            <a:fld id="{CCFCD7B9-2810-495F-B462-34C7E670C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6738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1A20A-DD7F-BBC2-A375-BB32E91E2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9558B2-685C-7FC7-D322-2372F2C18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01EE92-442A-6EE5-0ACD-18018CE95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E4EA-9CBF-7833-2AD3-16B2DA9F6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27A0A-DAC6-4452-979A-66FA9D0CC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2949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FD9C-0CEF-C93B-03E0-EA045CFF3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7E912-E202-D41B-4088-07027514C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38912-0451-322D-D24D-607B53A0E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9175C-C2BB-DD79-29C7-C41FDD07E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61EF2-4372-1ACB-8C8A-E8D715FCF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190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C9A5-BF99-2A0C-79EF-F2D9A3DC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02F398-84F1-DC67-B1C0-71F7A5EE2C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1B8AA-7E1E-AD61-839C-B07EDEA20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28E4B-714E-0D47-C203-ED0039DD9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8551A-5115-7B70-9369-39DBFCE06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0089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48209-5DDC-E8B7-A113-886CA181F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7879FA-4720-682A-CDE6-8E5D3B93A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083A93-5257-7534-8A99-F7C4D63EE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533EE4-77A9-664B-F369-47306C41E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617FA0-AADE-E0F4-7AAE-81FE66F46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0A357-BBAB-DA27-BD84-CE2FF56EB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7110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9C3E3-B19B-C6D8-8056-44CBE6D79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EB531-46FB-8E7D-B2F3-25ED868AD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34C671-3EA7-454A-B7F2-03D86C9DF4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BBF8CF-1BD2-9549-9F60-021DE47E13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FF0579-9CFB-6BDF-958E-FBFB267DE8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6335A7-1FA3-7BF5-E6FC-D19AAD6E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64EC9-F601-55A7-D97E-811287A18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84C84D-2259-E077-19BF-2CFAA9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6433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89231-C87D-0CB0-3ED9-A281552F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1D29E1-610D-8854-BDBA-4B04CFC6D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9982E-0E65-666E-3CC4-D40B976C8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99174-9288-5AAC-357A-AC87CB669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6896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AEA3F-8E2B-D9C0-0B9E-4232FB64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535B25-0D50-D85E-492C-86FF1280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224B7-C85A-D5AB-ADB9-F4A75E40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4140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CBF69-3F62-FD8F-854E-9E2E272FB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D907E-D9EE-BD63-D6F5-ED6C2753D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16EF68-5181-77CD-8EF4-B84DB3586B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1B687-9746-F6AD-3CD3-C74C6B0B7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FFE274-2D00-6106-B111-4B90C0E01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A39C8-91EB-F9FB-0A37-8BB6AB87D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13486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398D5-4289-5BA0-B87F-BAF191E68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3BAA1A-C0AB-6BFD-8761-201F6820F5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6423C0-23CA-3FFD-AAE0-19A8BAD3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61A22-F1C4-D0AD-82C8-8DD1C4931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4151EA-EEC8-C82B-31C5-4EBF8CA1F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E6F536-EC06-F513-8682-BB99A2891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0369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953B6-2A39-656C-6F3A-3D899B3C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D10E8E-8E59-CC8E-5BA9-0CE28CC1D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155538-BC28-CE4D-B42F-F0E4D344F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EAEC5-425D-C640-B069-1C63426DB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5F807-95DB-52DE-95AA-50E59EA96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59757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A8195B-FF3D-F10A-1AFA-5715EB12ED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4B57FB-64ED-0EEE-5D74-C6133F14FD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C67F0-C3C3-C704-1219-2C1E3790A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D8434-DEE8-60E0-2842-90CC6B45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EE0910-A523-6967-90EE-5F4D0BFD8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136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1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CD234F-F397-8CB0-FA55-A51DEE870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1" t="2770" r="-12030" b="2898"/>
          <a:stretch/>
        </p:blipFill>
        <p:spPr>
          <a:xfrm>
            <a:off x="888800" y="1182255"/>
            <a:ext cx="11303199" cy="21797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3D806B-1260-F639-019B-D4AB5EF7B417}"/>
              </a:ext>
            </a:extLst>
          </p:cNvPr>
          <p:cNvSpPr txBox="1"/>
          <p:nvPr userDrawn="1"/>
        </p:nvSpPr>
        <p:spPr>
          <a:xfrm>
            <a:off x="369454" y="4488873"/>
            <a:ext cx="114530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9D7B4C"/>
                </a:solidFill>
                <a:latin typeface="Audiowide" panose="02000503000000020004" pitchFamily="2" charset="0"/>
              </a:rPr>
              <a:t>MONEY IS TIME, WEALTH IS KNOWLEDGE, INFORMATION IS SURPRISE</a:t>
            </a:r>
          </a:p>
        </p:txBody>
      </p:sp>
      <p:pic>
        <p:nvPicPr>
          <p:cNvPr id="6" name="Picture 5" descr="Celestia-R1---OverlayTitleHD.png">
            <a:extLst>
              <a:ext uri="{FF2B5EF4-FFF2-40B4-BE49-F238E27FC236}">
                <a16:creationId xmlns:a16="http://schemas.microsoft.com/office/drawing/2014/main" id="{3C2B1AA0-3440-30F3-C2BE-DE2763DB5C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039756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CD234F-F397-8CB0-FA55-A51DEE870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-1" t="2770" r="-12030" b="2898"/>
          <a:stretch/>
        </p:blipFill>
        <p:spPr>
          <a:xfrm>
            <a:off x="888800" y="1182255"/>
            <a:ext cx="11303199" cy="21797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3D806B-1260-F639-019B-D4AB5EF7B417}"/>
              </a:ext>
            </a:extLst>
          </p:cNvPr>
          <p:cNvSpPr txBox="1"/>
          <p:nvPr userDrawn="1"/>
        </p:nvSpPr>
        <p:spPr>
          <a:xfrm>
            <a:off x="369454" y="4488873"/>
            <a:ext cx="114530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9D7B4C"/>
                </a:solidFill>
                <a:latin typeface="Audiowide" panose="02000503000000020004" pitchFamily="2" charset="0"/>
              </a:rPr>
              <a:t>MONEY IS TIME, WEALTH IS KNOWLEDGE, INFORMATION IS SURPRISE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2B1AA0-3440-30F3-C2BE-DE2763DB5C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2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15" b="624"/>
          <a:stretch/>
        </p:blipFill>
        <p:spPr>
          <a:xfrm>
            <a:off x="157019" y="701965"/>
            <a:ext cx="11453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635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80CA61C-D749-4593-4C8C-F0D9FBC53FB5}"/>
              </a:ext>
            </a:extLst>
          </p:cNvPr>
          <p:cNvGrpSpPr/>
          <p:nvPr userDrawn="1"/>
        </p:nvGrpSpPr>
        <p:grpSpPr>
          <a:xfrm>
            <a:off x="0" y="6155172"/>
            <a:ext cx="12192000" cy="702828"/>
            <a:chOff x="0" y="0"/>
            <a:chExt cx="12192000" cy="702828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9715DB6-D071-4AE7-078F-BDCD7F9051B8}"/>
                </a:ext>
              </a:extLst>
            </p:cNvPr>
            <p:cNvSpPr/>
            <p:nvPr/>
          </p:nvSpPr>
          <p:spPr>
            <a:xfrm>
              <a:off x="0" y="0"/>
              <a:ext cx="12192000" cy="702828"/>
            </a:xfrm>
            <a:prstGeom prst="rect">
              <a:avLst/>
            </a:prstGeom>
            <a:solidFill>
              <a:srgbClr val="1721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49E6611-2CA7-D2A3-C67B-83B6587BE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070107" y="0"/>
              <a:ext cx="3063569" cy="701639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259712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AF46C6-1E31-69DF-400C-41672A8B4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4A9753-0AFC-ADC9-2F49-1CECFE0E9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71831-94A8-8457-E38E-5F49289AB0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6DD97-36ED-4148-BB6C-15581984C54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5DED8-C5D9-0FFD-738F-BCF1A7FF84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D2799C-8A8B-7931-D959-AB1D3264AE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5A248E-1216-4791-A51C-7DA3F8185B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9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D6E50-4F27-D940-DB9D-5A4A76DC0C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0466" y="2850387"/>
            <a:ext cx="8068133" cy="2421464"/>
          </a:xfrm>
        </p:spPr>
        <p:txBody>
          <a:bodyPr>
            <a:noAutofit/>
          </a:bodyPr>
          <a:lstStyle/>
          <a:p>
            <a:r>
              <a:rPr lang="en-US" sz="6000" b="1" dirty="0">
                <a:solidFill>
                  <a:srgbClr val="92D050"/>
                </a:solidFill>
              </a:rPr>
              <a:t>Actuarial Generative Context Engineering </a:t>
            </a:r>
            <a:r>
              <a:rPr lang="en-US" sz="4000" b="1" i="1" dirty="0">
                <a:solidFill>
                  <a:srgbClr val="92D050"/>
                </a:solidFill>
              </a:rPr>
              <a:t>Made Simple</a:t>
            </a:r>
          </a:p>
        </p:txBody>
      </p:sp>
    </p:spTree>
    <p:extLst>
      <p:ext uri="{BB962C8B-B14F-4D97-AF65-F5344CB8AC3E}">
        <p14:creationId xmlns:p14="http://schemas.microsoft.com/office/powerpoint/2010/main" val="1068986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CD9EB-E348-B851-83E8-F99E4C024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0623" y="1940350"/>
            <a:ext cx="9690754" cy="2359843"/>
          </a:xfrm>
        </p:spPr>
        <p:txBody>
          <a:bodyPr>
            <a:noAutofit/>
          </a:bodyPr>
          <a:lstStyle/>
          <a:p>
            <a:pPr algn="ctr"/>
            <a:r>
              <a:rPr lang="en-US" sz="5400" b="1" cap="none" dirty="0">
                <a:solidFill>
                  <a:srgbClr val="92D050"/>
                </a:solidFill>
                <a:latin typeface="+mn-lt"/>
              </a:rPr>
              <a:t>Apprehensive about integrating LLM into your work?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4EC66B-4E6A-66F6-5A62-5C0EC0E83B29}"/>
              </a:ext>
            </a:extLst>
          </p:cNvPr>
          <p:cNvSpPr txBox="1"/>
          <p:nvPr/>
        </p:nvSpPr>
        <p:spPr>
          <a:xfrm>
            <a:off x="2969443" y="3120272"/>
            <a:ext cx="2516957" cy="1456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0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6F0A8-A765-F9A0-F082-CF72FEED1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5" cy="804420"/>
          </a:xfrm>
        </p:spPr>
        <p:txBody>
          <a:bodyPr>
            <a:noAutofit/>
          </a:bodyPr>
          <a:lstStyle/>
          <a:p>
            <a:pPr algn="ctr"/>
            <a:r>
              <a:rPr lang="en-US" sz="4800" b="1" cap="none" dirty="0">
                <a:solidFill>
                  <a:srgbClr val="92D050"/>
                </a:solidFill>
              </a:rPr>
              <a:t>Apprehension Vs Comprehension</a:t>
            </a:r>
            <a:br>
              <a:rPr lang="en-US" sz="4800" b="1" dirty="0">
                <a:solidFill>
                  <a:srgbClr val="92D050"/>
                </a:solidFill>
              </a:rPr>
            </a:br>
            <a:endParaRPr lang="en-US" sz="4800" dirty="0">
              <a:solidFill>
                <a:srgbClr val="92D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BE54C-3335-156A-E2EF-DF1F41570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735" y="1517719"/>
            <a:ext cx="4762892" cy="2894028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solidFill>
                  <a:srgbClr val="92D050"/>
                </a:solidFill>
              </a:rPr>
              <a:t>Apprehensive Learning</a:t>
            </a:r>
          </a:p>
          <a:p>
            <a:r>
              <a:rPr lang="en-US" dirty="0">
                <a:solidFill>
                  <a:srgbClr val="92D050"/>
                </a:solidFill>
              </a:rPr>
              <a:t>Initial grasp of concept</a:t>
            </a:r>
          </a:p>
          <a:p>
            <a:r>
              <a:rPr lang="en-US" dirty="0">
                <a:solidFill>
                  <a:srgbClr val="92D050"/>
                </a:solidFill>
              </a:rPr>
              <a:t>Intuitive perception</a:t>
            </a:r>
          </a:p>
          <a:p>
            <a:r>
              <a:rPr lang="en-US" dirty="0">
                <a:solidFill>
                  <a:srgbClr val="92D050"/>
                </a:solidFill>
              </a:rPr>
              <a:t>Grasping something, not all</a:t>
            </a:r>
          </a:p>
          <a:p>
            <a:r>
              <a:rPr lang="en-US" dirty="0">
                <a:solidFill>
                  <a:srgbClr val="92D050"/>
                </a:solidFill>
              </a:rPr>
              <a:t>Foundation for deeper work</a:t>
            </a:r>
          </a:p>
          <a:p>
            <a:r>
              <a:rPr lang="en-US" dirty="0">
                <a:solidFill>
                  <a:srgbClr val="92D050"/>
                </a:solidFill>
              </a:rPr>
              <a:t>“Riding a bike”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4719498-0405-251E-7486-49268A6AE420}"/>
              </a:ext>
            </a:extLst>
          </p:cNvPr>
          <p:cNvSpPr txBox="1">
            <a:spLocks/>
          </p:cNvSpPr>
          <p:nvPr/>
        </p:nvSpPr>
        <p:spPr>
          <a:xfrm>
            <a:off x="6337373" y="1517719"/>
            <a:ext cx="4762892" cy="28940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800" b="1" dirty="0">
                <a:solidFill>
                  <a:srgbClr val="92D050"/>
                </a:solidFill>
              </a:rPr>
              <a:t>Comprehensive Learning</a:t>
            </a:r>
          </a:p>
          <a:p>
            <a:r>
              <a:rPr lang="en-US" dirty="0">
                <a:solidFill>
                  <a:srgbClr val="92D050"/>
                </a:solidFill>
              </a:rPr>
              <a:t>Complete understanding</a:t>
            </a:r>
          </a:p>
          <a:p>
            <a:r>
              <a:rPr lang="en-US" dirty="0">
                <a:solidFill>
                  <a:srgbClr val="92D050"/>
                </a:solidFill>
              </a:rPr>
              <a:t>Analytical mastery</a:t>
            </a:r>
          </a:p>
          <a:p>
            <a:r>
              <a:rPr lang="en-US" dirty="0">
                <a:solidFill>
                  <a:srgbClr val="92D050"/>
                </a:solidFill>
              </a:rPr>
              <a:t>Fully applied and tested</a:t>
            </a:r>
          </a:p>
          <a:p>
            <a:r>
              <a:rPr lang="en-US" dirty="0">
                <a:solidFill>
                  <a:srgbClr val="92D050"/>
                </a:solidFill>
              </a:rPr>
              <a:t>Measurable, reproducible results</a:t>
            </a:r>
          </a:p>
          <a:p>
            <a:r>
              <a:rPr lang="en-US" dirty="0">
                <a:solidFill>
                  <a:srgbClr val="92D050"/>
                </a:solidFill>
              </a:rPr>
              <a:t>“Book </a:t>
            </a:r>
            <a:r>
              <a:rPr lang="en-US" dirty="0" err="1">
                <a:solidFill>
                  <a:srgbClr val="92D050"/>
                </a:solidFill>
              </a:rPr>
              <a:t>learnin</a:t>
            </a:r>
            <a:r>
              <a:rPr lang="en-US" dirty="0">
                <a:solidFill>
                  <a:srgbClr val="92D050"/>
                </a:solidFill>
              </a:rPr>
              <a:t>’”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207F07-9D50-AED2-799D-D173F6FBE129}"/>
              </a:ext>
            </a:extLst>
          </p:cNvPr>
          <p:cNvSpPr txBox="1"/>
          <p:nvPr/>
        </p:nvSpPr>
        <p:spPr>
          <a:xfrm>
            <a:off x="991881" y="4543726"/>
            <a:ext cx="97254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92D050"/>
                </a:solidFill>
              </a:rPr>
              <a:t>&gt;&gt;&gt;  LLM Engineering needs to be grasped left to right  &gt;&gt;&gt;</a:t>
            </a:r>
          </a:p>
        </p:txBody>
      </p:sp>
    </p:spTree>
    <p:extLst>
      <p:ext uri="{BB962C8B-B14F-4D97-AF65-F5344CB8AC3E}">
        <p14:creationId xmlns:p14="http://schemas.microsoft.com/office/powerpoint/2010/main" val="3970027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46689-B74A-4329-1946-DB42366D2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C0CF8-1363-EA5D-899A-3CF2C78ED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0623" y="1940350"/>
            <a:ext cx="9690754" cy="2359843"/>
          </a:xfrm>
        </p:spPr>
        <p:txBody>
          <a:bodyPr>
            <a:noAutofit/>
          </a:bodyPr>
          <a:lstStyle/>
          <a:p>
            <a:pPr algn="ctr"/>
            <a:r>
              <a:rPr lang="en-US" sz="5400" b="1" cap="none" dirty="0">
                <a:solidFill>
                  <a:srgbClr val="92D050"/>
                </a:solidFill>
                <a:latin typeface="+mn-lt"/>
              </a:rPr>
              <a:t>What is Context Engineering?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9E9B0-D574-C76D-FE1A-E830F4986A72}"/>
              </a:ext>
            </a:extLst>
          </p:cNvPr>
          <p:cNvSpPr txBox="1"/>
          <p:nvPr/>
        </p:nvSpPr>
        <p:spPr>
          <a:xfrm>
            <a:off x="2969443" y="3120272"/>
            <a:ext cx="2516957" cy="1456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333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97DE8-E241-30AC-1EA9-7351269F1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D41F1-860B-EA00-B725-107BD7454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157" y="1366472"/>
            <a:ext cx="3555683" cy="1893730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2D050"/>
                </a:solidFill>
              </a:rPr>
              <a:t>Context Window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92D050"/>
                </a:solidFill>
              </a:rPr>
              <a:t>The container space for data retrieval, prompts and generative material in a session</a:t>
            </a:r>
          </a:p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422B1F6-6207-556B-C27F-DBFE48EE00D3}"/>
              </a:ext>
            </a:extLst>
          </p:cNvPr>
          <p:cNvSpPr txBox="1">
            <a:spLocks/>
          </p:cNvSpPr>
          <p:nvPr/>
        </p:nvSpPr>
        <p:spPr>
          <a:xfrm>
            <a:off x="4318158" y="3723169"/>
            <a:ext cx="3555682" cy="20153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800" b="1" dirty="0">
                <a:solidFill>
                  <a:srgbClr val="92D050"/>
                </a:solidFill>
              </a:rPr>
              <a:t>Tokens</a:t>
            </a:r>
          </a:p>
          <a:p>
            <a:pPr marL="0" indent="0" algn="ctr">
              <a:buFont typeface="Arial"/>
              <a:buNone/>
            </a:pPr>
            <a:r>
              <a:rPr lang="en-US" dirty="0">
                <a:solidFill>
                  <a:srgbClr val="92D050"/>
                </a:solidFill>
              </a:rPr>
              <a:t>Units of data.  All Context data is converted to this form for processing.  These are stored as vector databases</a:t>
            </a:r>
          </a:p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D8B2464-44BA-CEDA-E863-87B2018B956F}"/>
              </a:ext>
            </a:extLst>
          </p:cNvPr>
          <p:cNvSpPr txBox="1">
            <a:spLocks/>
          </p:cNvSpPr>
          <p:nvPr/>
        </p:nvSpPr>
        <p:spPr>
          <a:xfrm>
            <a:off x="7873840" y="2250651"/>
            <a:ext cx="3904215" cy="2356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800" b="1" dirty="0">
                <a:solidFill>
                  <a:srgbClr val="92D050"/>
                </a:solidFill>
              </a:rPr>
              <a:t>LLM Logical Processing</a:t>
            </a:r>
          </a:p>
          <a:p>
            <a:pPr marL="0" indent="0" algn="ctr">
              <a:buFont typeface="Arial"/>
              <a:buNone/>
            </a:pPr>
            <a:r>
              <a:rPr lang="en-US" dirty="0">
                <a:solidFill>
                  <a:srgbClr val="92D050"/>
                </a:solidFill>
              </a:rPr>
              <a:t>Predict the next token based on the confluence of the context window.</a:t>
            </a:r>
          </a:p>
          <a:p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43F9C61-C674-536E-A390-D6C5B3AEC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0287" y="275791"/>
            <a:ext cx="10131425" cy="804420"/>
          </a:xfrm>
        </p:spPr>
        <p:txBody>
          <a:bodyPr>
            <a:noAutofit/>
          </a:bodyPr>
          <a:lstStyle/>
          <a:p>
            <a:pPr algn="ctr"/>
            <a:r>
              <a:rPr lang="en-US" sz="4000" b="1" cap="none" dirty="0">
                <a:solidFill>
                  <a:srgbClr val="92D050"/>
                </a:solidFill>
              </a:rPr>
              <a:t>Basic LLM Comprehension</a:t>
            </a:r>
            <a:endParaRPr lang="en-US" sz="4000" dirty="0">
              <a:solidFill>
                <a:srgbClr val="92D050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8E2EBF8-AB20-5B69-36FE-C3C7D9C1C6FB}"/>
              </a:ext>
            </a:extLst>
          </p:cNvPr>
          <p:cNvSpPr txBox="1">
            <a:spLocks/>
          </p:cNvSpPr>
          <p:nvPr/>
        </p:nvSpPr>
        <p:spPr>
          <a:xfrm>
            <a:off x="608499" y="2482134"/>
            <a:ext cx="3555683" cy="18937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800" b="1" dirty="0">
                <a:solidFill>
                  <a:srgbClr val="92D050"/>
                </a:solidFill>
              </a:rPr>
              <a:t>Native Training</a:t>
            </a:r>
          </a:p>
          <a:p>
            <a:pPr marL="0" indent="0" algn="ctr">
              <a:buFont typeface="Arial"/>
              <a:buNone/>
            </a:pPr>
            <a:r>
              <a:rPr lang="en-US" dirty="0">
                <a:solidFill>
                  <a:srgbClr val="92D050"/>
                </a:solidFill>
              </a:rPr>
              <a:t>External to the context window.  Part of the LLM model that you call.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6214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C77924A-0363-3922-FF91-F253B31993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753946"/>
              </p:ext>
            </p:extLst>
          </p:nvPr>
        </p:nvGraphicFramePr>
        <p:xfrm>
          <a:off x="1057072" y="1749624"/>
          <a:ext cx="10077855" cy="3358752"/>
        </p:xfrm>
        <a:graphic>
          <a:graphicData uri="http://schemas.openxmlformats.org/drawingml/2006/table">
            <a:tbl>
              <a:tblPr/>
              <a:tblGrid>
                <a:gridCol w="2015571">
                  <a:extLst>
                    <a:ext uri="{9D8B030D-6E8A-4147-A177-3AD203B41FA5}">
                      <a16:colId xmlns:a16="http://schemas.microsoft.com/office/drawing/2014/main" val="991121529"/>
                    </a:ext>
                  </a:extLst>
                </a:gridCol>
                <a:gridCol w="2015571">
                  <a:extLst>
                    <a:ext uri="{9D8B030D-6E8A-4147-A177-3AD203B41FA5}">
                      <a16:colId xmlns:a16="http://schemas.microsoft.com/office/drawing/2014/main" val="1821390092"/>
                    </a:ext>
                  </a:extLst>
                </a:gridCol>
                <a:gridCol w="2015571">
                  <a:extLst>
                    <a:ext uri="{9D8B030D-6E8A-4147-A177-3AD203B41FA5}">
                      <a16:colId xmlns:a16="http://schemas.microsoft.com/office/drawing/2014/main" val="3710941181"/>
                    </a:ext>
                  </a:extLst>
                </a:gridCol>
                <a:gridCol w="2015571">
                  <a:extLst>
                    <a:ext uri="{9D8B030D-6E8A-4147-A177-3AD203B41FA5}">
                      <a16:colId xmlns:a16="http://schemas.microsoft.com/office/drawing/2014/main" val="707759906"/>
                    </a:ext>
                  </a:extLst>
                </a:gridCol>
                <a:gridCol w="2015571">
                  <a:extLst>
                    <a:ext uri="{9D8B030D-6E8A-4147-A177-3AD203B41FA5}">
                      <a16:colId xmlns:a16="http://schemas.microsoft.com/office/drawing/2014/main" val="2727213280"/>
                    </a:ext>
                  </a:extLst>
                </a:gridCol>
              </a:tblGrid>
              <a:tr h="3457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effectLst/>
                        </a:rPr>
                        <a:t>Tokens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EADC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effectLst/>
                        </a:rPr>
                        <a:t>Approx Words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EADC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effectLst/>
                        </a:rPr>
                        <a:t>Approx Pages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EADC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>
                          <a:solidFill>
                            <a:srgbClr val="0F172A"/>
                          </a:solidFill>
                          <a:effectLst/>
                        </a:rPr>
                        <a:t>Real-World Equivalent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EADC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effectLst/>
                        </a:rPr>
                        <a:t>Use Case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EAD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2540263"/>
                  </a:ext>
                </a:extLst>
              </a:tr>
              <a:tr h="345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effectLst/>
                        </a:rPr>
                        <a:t>1,000</a:t>
                      </a:r>
                      <a:endParaRPr lang="en-US" sz="1100" dirty="0">
                        <a:effectLst/>
                      </a:endParaRP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~750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effectLst/>
                        </a:rPr>
                        <a:t>~2–3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Short article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Quick Q&amp;A, summaries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959022"/>
                  </a:ext>
                </a:extLst>
              </a:tr>
              <a:tr h="345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8,000</a:t>
                      </a:r>
                      <a:endParaRPr lang="en-US" sz="1100">
                        <a:effectLst/>
                      </a:endParaRP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~6,000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~10–15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Research paper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Perplexity standard input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8580180"/>
                  </a:ext>
                </a:extLst>
              </a:tr>
              <a:tr h="4939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50,000</a:t>
                      </a:r>
                      <a:endParaRPr lang="en-US" sz="1100">
                        <a:effectLst/>
                      </a:endParaRP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~37,500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~125–150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Long technical report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Multi-document analysis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322454"/>
                  </a:ext>
                </a:extLst>
              </a:tr>
              <a:tr h="3457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100,000</a:t>
                      </a:r>
                      <a:endParaRPr lang="en-US" sz="1100">
                        <a:effectLst/>
                      </a:endParaRP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~75,000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~250–300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Large textbook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Comprehensive analysis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834165"/>
                  </a:ext>
                </a:extLst>
              </a:tr>
              <a:tr h="4939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200,000</a:t>
                      </a:r>
                      <a:endParaRPr lang="en-US" sz="1100">
                        <a:effectLst/>
                      </a:endParaRP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~150,000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~500–600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Short book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Claude 3.5 Sonnet standard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588542"/>
                  </a:ext>
                </a:extLst>
              </a:tr>
              <a:tr h="4939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1,000,000</a:t>
                      </a:r>
                      <a:endParaRPr lang="en-US" sz="1100">
                        <a:effectLst/>
                      </a:endParaRP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~750,000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~2,500–3,000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Entire encyclopedia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Frontier models; codebase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2904034"/>
                  </a:ext>
                </a:extLst>
              </a:tr>
              <a:tr h="4939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100M+</a:t>
                      </a:r>
                      <a:endParaRPr lang="en-US" sz="1100">
                        <a:effectLst/>
                      </a:endParaRP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~75M+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~250K+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Research library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effectLst/>
                        </a:rPr>
                        <a:t>Extended context models</a:t>
                      </a:r>
                    </a:p>
                  </a:txBody>
                  <a:tcPr marL="53671" marR="53671" marT="26836" marB="26836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1982329"/>
                  </a:ext>
                </a:extLst>
              </a:tr>
            </a:tbl>
          </a:graphicData>
        </a:graphic>
      </p:graphicFrame>
      <p:sp>
        <p:nvSpPr>
          <p:cNvPr id="3" name="Title 1">
            <a:extLst>
              <a:ext uri="{FF2B5EF4-FFF2-40B4-BE49-F238E27FC236}">
                <a16:creationId xmlns:a16="http://schemas.microsoft.com/office/drawing/2014/main" id="{1D4C0644-62FF-EAE3-E77F-062E7C05A311}"/>
              </a:ext>
            </a:extLst>
          </p:cNvPr>
          <p:cNvSpPr txBox="1">
            <a:spLocks/>
          </p:cNvSpPr>
          <p:nvPr/>
        </p:nvSpPr>
        <p:spPr>
          <a:xfrm>
            <a:off x="1030286" y="489799"/>
            <a:ext cx="10131425" cy="804420"/>
          </a:xfrm>
          <a:prstGeom prst="rect">
            <a:avLst/>
          </a:prstGeom>
        </p:spPr>
        <p:txBody>
          <a:bodyPr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b="1" cap="none" dirty="0">
                <a:solidFill>
                  <a:srgbClr val="92D050"/>
                </a:solidFill>
              </a:rPr>
              <a:t>Token To Document Conversion</a:t>
            </a:r>
            <a:endParaRPr lang="en-US" sz="4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949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E1CB7-DB1E-C986-3E24-55CE7068E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49BA87B-8AD9-6FF9-F9D2-7B2A5C81905C}"/>
              </a:ext>
            </a:extLst>
          </p:cNvPr>
          <p:cNvSpPr txBox="1">
            <a:spLocks/>
          </p:cNvSpPr>
          <p:nvPr/>
        </p:nvSpPr>
        <p:spPr>
          <a:xfrm>
            <a:off x="1030287" y="553040"/>
            <a:ext cx="10131425" cy="936396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Aft>
                <a:spcPts val="600"/>
              </a:spcAft>
            </a:pPr>
            <a:r>
              <a:rPr lang="en-US" sz="4400" b="1" kern="1200" cap="none" dirty="0">
                <a:ln w="3175" cmpd="sng">
                  <a:noFill/>
                </a:ln>
                <a:solidFill>
                  <a:srgbClr val="92D050"/>
                </a:solidFill>
                <a:effectLst/>
                <a:latin typeface="+mj-lt"/>
                <a:ea typeface="+mj-ea"/>
                <a:cs typeface="+mj-cs"/>
              </a:rPr>
              <a:t>LLM Context Window By Model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D92BE26-7525-1BF8-B8A3-3E62516EB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259544"/>
              </p:ext>
            </p:extLst>
          </p:nvPr>
        </p:nvGraphicFramePr>
        <p:xfrm>
          <a:off x="1030286" y="1707649"/>
          <a:ext cx="10131425" cy="3791326"/>
        </p:xfrm>
        <a:graphic>
          <a:graphicData uri="http://schemas.openxmlformats.org/drawingml/2006/table">
            <a:tbl>
              <a:tblPr firstRow="1" bandRow="1"/>
              <a:tblGrid>
                <a:gridCol w="1375688">
                  <a:extLst>
                    <a:ext uri="{9D8B030D-6E8A-4147-A177-3AD203B41FA5}">
                      <a16:colId xmlns:a16="http://schemas.microsoft.com/office/drawing/2014/main" val="1902285936"/>
                    </a:ext>
                  </a:extLst>
                </a:gridCol>
                <a:gridCol w="1015792">
                  <a:extLst>
                    <a:ext uri="{9D8B030D-6E8A-4147-A177-3AD203B41FA5}">
                      <a16:colId xmlns:a16="http://schemas.microsoft.com/office/drawing/2014/main" val="4094343017"/>
                    </a:ext>
                  </a:extLst>
                </a:gridCol>
                <a:gridCol w="1908573">
                  <a:extLst>
                    <a:ext uri="{9D8B030D-6E8A-4147-A177-3AD203B41FA5}">
                      <a16:colId xmlns:a16="http://schemas.microsoft.com/office/drawing/2014/main" val="3109062076"/>
                    </a:ext>
                  </a:extLst>
                </a:gridCol>
                <a:gridCol w="2582632">
                  <a:extLst>
                    <a:ext uri="{9D8B030D-6E8A-4147-A177-3AD203B41FA5}">
                      <a16:colId xmlns:a16="http://schemas.microsoft.com/office/drawing/2014/main" val="4140981281"/>
                    </a:ext>
                  </a:extLst>
                </a:gridCol>
                <a:gridCol w="3248740">
                  <a:extLst>
                    <a:ext uri="{9D8B030D-6E8A-4147-A177-3AD203B41FA5}">
                      <a16:colId xmlns:a16="http://schemas.microsoft.com/office/drawing/2014/main" val="2535810295"/>
                    </a:ext>
                  </a:extLst>
                </a:gridCol>
              </a:tblGrid>
              <a:tr h="2247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0F172A"/>
                          </a:solidFill>
                          <a:effectLst/>
                        </a:rPr>
                        <a:t>Model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0F172A"/>
                          </a:solidFill>
                          <a:effectLst/>
                        </a:rPr>
                        <a:t>Developer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0F172A"/>
                          </a:solidFill>
                          <a:effectLst/>
                        </a:rPr>
                        <a:t>Context Window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effectLst/>
                        </a:rPr>
                        <a:t>Approximate Pages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>
                          <a:solidFill>
                            <a:srgbClr val="0F172A"/>
                          </a:solidFill>
                          <a:effectLst/>
                        </a:rPr>
                        <a:t>Best Use Case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4002705"/>
                  </a:ext>
                </a:extLst>
              </a:tr>
              <a:tr h="3859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Claude 3.5 Sonnet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Anthropic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200,000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~500–600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Long-context reasoning, documents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91339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Claude Sonnet 4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Anthropic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1,000,000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~2,500–3,000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Multi-document analysis, codebase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74901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GPT-4 Turbo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OpenAI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128,000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~300–400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</a:rPr>
                        <a:t>Complex reasoning, moderate context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282839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GPT-5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OpenAI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400,000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~1,000–1,300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Advanced reasoning, research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174114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Gemini 1.5 Pro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Google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1,000,000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~2,500–3,000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Multimodal, long video/audio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4558086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Gemini 2.5 Pro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Google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1,000,000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~2,500–3,000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Advanced multimodal tasks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188149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effectLst/>
                        </a:rPr>
                        <a:t>Llama 3.1</a:t>
                      </a:r>
                      <a:endParaRPr lang="en-US" sz="1000" dirty="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Meta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128,000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~300–400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Open-source, on-device deployment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029405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Llama 4 Scout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Meta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10,000,000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~25,000–30,000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Massive codebase, full book analysis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541493"/>
                  </a:ext>
                </a:extLst>
              </a:tr>
              <a:tr h="3859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Claude Opus 4.5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Anthropic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200,000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~500–600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Advanced reasoning, multi-document analysis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0518888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Kimi K2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Moonshot AI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256,000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~600–750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Agentic coding, long-horizon tasks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107569"/>
                  </a:ext>
                </a:extLst>
              </a:tr>
              <a:tr h="2247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Grok 4.1 Fast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xAI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2,000,000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~5,000–6,000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Tool calling, agentic reasoning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5666214"/>
                  </a:ext>
                </a:extLst>
              </a:tr>
              <a:tr h="3859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Claude Sonnet 4.5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Anthropic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200,000–1,000,000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~500–600 (standard) to ~2.5M (beta)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General-purpose, flexible context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129379"/>
                  </a:ext>
                </a:extLst>
              </a:tr>
              <a:tr h="3859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b="1">
                          <a:solidFill>
                            <a:srgbClr val="38BDF8"/>
                          </a:solidFill>
                          <a:effectLst/>
                        </a:rPr>
                        <a:t>GPT-5.1</a:t>
                      </a:r>
                      <a:endParaRPr lang="en-US" sz="1000">
                        <a:effectLst/>
                      </a:endParaRP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OpenAI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400,000 tokens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</a:rPr>
                        <a:t>~1,000–1,300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</a:rPr>
                        <a:t>Advanced reasoning with dynamic compression</a:t>
                      </a:r>
                    </a:p>
                  </a:txBody>
                  <a:tcPr marL="23968" marR="23968" marT="11984" marB="1198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76177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9571AF1-C470-3628-9DFD-0651F58F7C2B}"/>
              </a:ext>
            </a:extLst>
          </p:cNvPr>
          <p:cNvSpPr txBox="1"/>
          <p:nvPr/>
        </p:nvSpPr>
        <p:spPr>
          <a:xfrm>
            <a:off x="952481" y="5615721"/>
            <a:ext cx="102092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i="1" dirty="0">
                <a:solidFill>
                  <a:srgbClr val="94A3B8"/>
                </a:solidFill>
                <a:effectLst/>
                <a:latin typeface="Arial" panose="020B0604020202020204" pitchFamily="34" charset="0"/>
              </a:rPr>
              <a:t>⚠ Approximate values: Context windows change frequently. Refer to official vendor docs for current specs.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14369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0C9B42D-DF03-61ED-C076-3EE76FBF7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0287" y="562515"/>
            <a:ext cx="10131425" cy="785567"/>
          </a:xfrm>
        </p:spPr>
        <p:txBody>
          <a:bodyPr>
            <a:normAutofit/>
          </a:bodyPr>
          <a:lstStyle/>
          <a:p>
            <a:pPr algn="ctr"/>
            <a:r>
              <a:rPr lang="en-US" sz="4400" b="1" cap="none" dirty="0">
                <a:solidFill>
                  <a:srgbClr val="92D050"/>
                </a:solidFill>
              </a:rPr>
              <a:t>LLM Input Formats: Strengths &amp; Use Cases</a:t>
            </a:r>
            <a:endParaRPr lang="en-US" sz="4400" cap="none" dirty="0">
              <a:solidFill>
                <a:srgbClr val="92D050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EE39869-6C14-CB60-6490-84C9C4CD0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7350197"/>
              </p:ext>
            </p:extLst>
          </p:nvPr>
        </p:nvGraphicFramePr>
        <p:xfrm>
          <a:off x="1090178" y="1593129"/>
          <a:ext cx="10011644" cy="3916789"/>
        </p:xfrm>
        <a:graphic>
          <a:graphicData uri="http://schemas.openxmlformats.org/drawingml/2006/table">
            <a:tbl>
              <a:tblPr firstRow="1" bandRow="1"/>
              <a:tblGrid>
                <a:gridCol w="1190304">
                  <a:extLst>
                    <a:ext uri="{9D8B030D-6E8A-4147-A177-3AD203B41FA5}">
                      <a16:colId xmlns:a16="http://schemas.microsoft.com/office/drawing/2014/main" val="478811223"/>
                    </a:ext>
                  </a:extLst>
                </a:gridCol>
                <a:gridCol w="1207776">
                  <a:extLst>
                    <a:ext uri="{9D8B030D-6E8A-4147-A177-3AD203B41FA5}">
                      <a16:colId xmlns:a16="http://schemas.microsoft.com/office/drawing/2014/main" val="478642820"/>
                    </a:ext>
                  </a:extLst>
                </a:gridCol>
                <a:gridCol w="2958309">
                  <a:extLst>
                    <a:ext uri="{9D8B030D-6E8A-4147-A177-3AD203B41FA5}">
                      <a16:colId xmlns:a16="http://schemas.microsoft.com/office/drawing/2014/main" val="1469845746"/>
                    </a:ext>
                  </a:extLst>
                </a:gridCol>
                <a:gridCol w="963190">
                  <a:extLst>
                    <a:ext uri="{9D8B030D-6E8A-4147-A177-3AD203B41FA5}">
                      <a16:colId xmlns:a16="http://schemas.microsoft.com/office/drawing/2014/main" val="1275507571"/>
                    </a:ext>
                  </a:extLst>
                </a:gridCol>
                <a:gridCol w="3692065">
                  <a:extLst>
                    <a:ext uri="{9D8B030D-6E8A-4147-A177-3AD203B41FA5}">
                      <a16:colId xmlns:a16="http://schemas.microsoft.com/office/drawing/2014/main" val="2338147118"/>
                    </a:ext>
                  </a:extLst>
                </a:gridCol>
              </a:tblGrid>
              <a:tr h="43291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>
                          <a:solidFill>
                            <a:srgbClr val="0F172A"/>
                          </a:solidFill>
                          <a:effectLst/>
                        </a:rPr>
                        <a:t>Format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>
                          <a:solidFill>
                            <a:srgbClr val="0F172A"/>
                          </a:solidFill>
                          <a:effectLst/>
                        </a:rPr>
                        <a:t>Token Efficiency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>
                          <a:solidFill>
                            <a:srgbClr val="0F172A"/>
                          </a:solidFill>
                          <a:effectLst/>
                        </a:rPr>
                        <a:t>Accuracy Rating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>
                          <a:solidFill>
                            <a:srgbClr val="0F172A"/>
                          </a:solidFill>
                          <a:effectLst/>
                        </a:rPr>
                        <a:t>Parsing Speed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>
                          <a:solidFill>
                            <a:srgbClr val="0F172A"/>
                          </a:solidFill>
                          <a:effectLst/>
                        </a:rPr>
                        <a:t>Best Use Case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8B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495421"/>
                  </a:ext>
                </a:extLst>
              </a:tr>
              <a:tr h="250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Plaintext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~30K–40K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Excellent for prose; best token efficiency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N/A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Natural language, notes, emails, narrative text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036148"/>
                  </a:ext>
                </a:extLst>
              </a:tr>
              <a:tr h="432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Markdown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~40K–60K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effectLst/>
                        </a:rPr>
                        <a:t>Human-readable; structured data best-performer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Fast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>
                          <a:effectLst/>
                        </a:rPr>
                        <a:t>Tables, hierarchies, documentation, technical reports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887624"/>
                  </a:ext>
                </a:extLst>
              </a:tr>
              <a:tr h="432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JSON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~50K–70K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Strict parsing; widely supported by APIs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Very Fast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Structured APIs, programmatic automation, downstream tools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348470"/>
                  </a:ext>
                </a:extLst>
              </a:tr>
              <a:tr h="250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YAML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~35K–50K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Most token-efficient for hierarchies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Moderate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Configuration files, readable nested structures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985502"/>
                  </a:ext>
                </a:extLst>
              </a:tr>
              <a:tr h="250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XML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~60K–80K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Semantic metadata; robust validation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Fast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Complex hierarchies, enterprise systems, rich annotations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7160"/>
                  </a:ext>
                </a:extLst>
              </a:tr>
              <a:tr h="250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JSONL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~45K–65K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Fast streaming; line-delimited simplicity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Very Fast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Log files, training data, batch processing, records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497216"/>
                  </a:ext>
                </a:extLst>
              </a:tr>
              <a:tr h="250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CSV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~40K–60K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Token-efficient but lower accuracy for LLMs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Very Fast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Tabular data (consider Markdown alternative for accuracy)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06395"/>
                  </a:ext>
                </a:extLst>
              </a:tr>
              <a:tr h="250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Python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~50K–70K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Executable; excellent for logic and algorithms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Very Fast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Code generation, data structures, computational workflows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405468"/>
                  </a:ext>
                </a:extLst>
              </a:tr>
              <a:tr h="2503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JavaScript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~50K–70K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Web-native; good for frontend reasoning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Very Fast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>
                          <a:effectLst/>
                        </a:rPr>
                        <a:t>Frontend code, async patterns, browser APIs, event logic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370466"/>
                  </a:ext>
                </a:extLst>
              </a:tr>
              <a:tr h="432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Jupyter Notebook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~60K–80K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Mixed narrative + code; reproducible workflows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Moderate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Data science, exploratory analysis, tutorials, demos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9101823"/>
                  </a:ext>
                </a:extLst>
              </a:tr>
              <a:tr h="432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38BDF8"/>
                          </a:solidFill>
                          <a:effectLst/>
                        </a:rPr>
                        <a:t>HTML</a:t>
                      </a:r>
                      <a:endParaRPr lang="en-US" sz="110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~70K–100K tokens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effectLst/>
                        </a:rPr>
                        <a:t>Preserves semantic markup and structure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effectLst/>
                        </a:rPr>
                        <a:t>Moderate</a:t>
                      </a: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>
                          <a:effectLst/>
                        </a:rPr>
                        <a:t>Web pages, documentation sites, UI patterns, content </a:t>
                      </a:r>
                      <a:r>
                        <a:rPr lang="fr-FR" sz="1100" dirty="0" err="1">
                          <a:effectLst/>
                        </a:rPr>
                        <a:t>layout</a:t>
                      </a:r>
                      <a:endParaRPr lang="fr-FR" sz="1100" dirty="0">
                        <a:effectLst/>
                      </a:endParaRPr>
                    </a:p>
                  </a:txBody>
                  <a:tcPr marL="22211" marR="22211" marT="11105" marB="11105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4756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407538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jpeg"/></Relationships>
</file>

<file path=ppt/theme/theme1.xml><?xml version="1.0" encoding="utf-8"?>
<a:theme xmlns:a="http://schemas.openxmlformats.org/drawingml/2006/main" name="5G Title Dar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5th Generation" id="{E47B316B-EB89-4E0C-927E-D84AE0C90857}" vid="{5A4BCB8F-AD6D-4CE3-9C60-BA9361AF9D44}"/>
    </a:ext>
  </a:extLst>
</a:theme>
</file>

<file path=ppt/theme/theme2.xml><?xml version="1.0" encoding="utf-8"?>
<a:theme xmlns:a="http://schemas.openxmlformats.org/drawingml/2006/main" name="1_5G Title Dar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5th Generation" id="{E47B316B-EB89-4E0C-927E-D84AE0C90857}" vid="{65E56763-5C11-48FA-B878-7F1F3C8DF7D4}"/>
    </a:ext>
  </a:extLst>
</a:theme>
</file>

<file path=ppt/theme/theme3.xml><?xml version="1.0" encoding="utf-8"?>
<a:theme xmlns:a="http://schemas.openxmlformats.org/drawingml/2006/main" name="5GF Body Dark">
  <a:themeElements>
    <a:clrScheme name="5GF">
      <a:dk1>
        <a:srgbClr val="17212B"/>
      </a:dk1>
      <a:lt1>
        <a:srgbClr val="FFFFFF"/>
      </a:lt1>
      <a:dk2>
        <a:srgbClr val="17212B"/>
      </a:dk2>
      <a:lt2>
        <a:srgbClr val="EBEBEB"/>
      </a:lt2>
      <a:accent1>
        <a:srgbClr val="4A9924"/>
      </a:accent1>
      <a:accent2>
        <a:srgbClr val="9D7B4C"/>
      </a:accent2>
      <a:accent3>
        <a:srgbClr val="3AABD8"/>
      </a:accent3>
      <a:accent4>
        <a:srgbClr val="ABE54D"/>
      </a:accent4>
      <a:accent5>
        <a:srgbClr val="F9A33F"/>
      </a:accent5>
      <a:accent6>
        <a:srgbClr val="4686CC"/>
      </a:accent6>
      <a:hlink>
        <a:srgbClr val="B01329"/>
      </a:hlink>
      <a:folHlink>
        <a:srgbClr val="E44251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5th Generation" id="{E47B316B-EB89-4E0C-927E-D84AE0C90857}" vid="{B06DEAE9-1141-4244-B1E2-945F66E2CDDC}"/>
    </a:ext>
  </a:extLst>
</a:theme>
</file>

<file path=ppt/theme/theme4.xml><?xml version="1.0" encoding="utf-8"?>
<a:theme xmlns:a="http://schemas.openxmlformats.org/drawingml/2006/main" name="5GF ligh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5th Generation" id="{E47B316B-EB89-4E0C-927E-D84AE0C90857}" vid="{6AE5DB7E-B8FA-49B6-87C7-F5851C5002B7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5th Generation</Template>
  <TotalTime>225</TotalTime>
  <Words>701</Words>
  <Application>Microsoft Office PowerPoint</Application>
  <PresentationFormat>Widescreen</PresentationFormat>
  <Paragraphs>200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Aptos</vt:lpstr>
      <vt:lpstr>Aptos Display</vt:lpstr>
      <vt:lpstr>Arial</vt:lpstr>
      <vt:lpstr>Audiowide</vt:lpstr>
      <vt:lpstr>Calibri</vt:lpstr>
      <vt:lpstr>Calibri Light</vt:lpstr>
      <vt:lpstr>5G Title Dark</vt:lpstr>
      <vt:lpstr>1_5G Title Dark</vt:lpstr>
      <vt:lpstr>5GF Body Dark</vt:lpstr>
      <vt:lpstr>5GF light</vt:lpstr>
      <vt:lpstr>Actuarial Generative Context Engineering Made Simple</vt:lpstr>
      <vt:lpstr>Apprehensive about integrating LLM into your work?</vt:lpstr>
      <vt:lpstr>Apprehension Vs Comprehension </vt:lpstr>
      <vt:lpstr>What is Context Engineering?</vt:lpstr>
      <vt:lpstr>Basic LLM Comprehension</vt:lpstr>
      <vt:lpstr>PowerPoint Presentation</vt:lpstr>
      <vt:lpstr>PowerPoint Presentation</vt:lpstr>
      <vt:lpstr>LLM Input Formats: Strengths &amp; Use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Maxwell</dc:creator>
  <cp:lastModifiedBy>Robert Maxwell</cp:lastModifiedBy>
  <cp:revision>6</cp:revision>
  <dcterms:created xsi:type="dcterms:W3CDTF">2025-12-02T20:56:28Z</dcterms:created>
  <dcterms:modified xsi:type="dcterms:W3CDTF">2025-12-03T18:56:44Z</dcterms:modified>
</cp:coreProperties>
</file>