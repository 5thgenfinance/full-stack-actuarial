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 id="2147483705" r:id="rId2"/>
    <p:sldMasterId id="2147483660" r:id="rId3"/>
    <p:sldMasterId id="2147483690" r:id="rId4"/>
  </p:sldMasterIdLst>
  <p:notesMasterIdLst>
    <p:notesMasterId r:id="rId20"/>
  </p:notesMasterIdLst>
  <p:sldIdLst>
    <p:sldId id="266" r:id="rId5"/>
    <p:sldId id="277" r:id="rId6"/>
    <p:sldId id="267" r:id="rId7"/>
    <p:sldId id="268" r:id="rId8"/>
    <p:sldId id="269" r:id="rId9"/>
    <p:sldId id="270" r:id="rId10"/>
    <p:sldId id="271" r:id="rId11"/>
    <p:sldId id="272" r:id="rId12"/>
    <p:sldId id="273" r:id="rId13"/>
    <p:sldId id="274" r:id="rId14"/>
    <p:sldId id="275" r:id="rId15"/>
    <p:sldId id="276" r:id="rId16"/>
    <p:sldId id="278" r:id="rId17"/>
    <p:sldId id="280" r:id="rId18"/>
    <p:sldId id="27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ADC9"/>
    <a:srgbClr val="17212B"/>
    <a:srgbClr val="FFFFFF"/>
    <a:srgbClr val="9D7B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136" autoAdjust="0"/>
  </p:normalViewPr>
  <p:slideViewPr>
    <p:cSldViewPr snapToGrid="0">
      <p:cViewPr varScale="1">
        <p:scale>
          <a:sx n="89" d="100"/>
          <a:sy n="89" d="100"/>
        </p:scale>
        <p:origin x="1434" y="30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0DCD17-DD67-4AF3-987B-5D5471942990}"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50D34D47-E331-4157-99CC-913174A62D21}">
      <dgm:prSet phldrT="[Text]" phldr="0"/>
      <dgm:spPr/>
      <dgm:t>
        <a:bodyPr/>
        <a:lstStyle/>
        <a:p>
          <a:r>
            <a:rPr lang="en-US" dirty="0"/>
            <a:t>YAML </a:t>
          </a:r>
        </a:p>
        <a:p>
          <a:r>
            <a:rPr lang="en-US" dirty="0"/>
            <a:t>Front Matter</a:t>
          </a:r>
        </a:p>
      </dgm:t>
    </dgm:pt>
    <dgm:pt modelId="{D3CFDD64-2ABF-4DF7-86D7-E95E3C03765E}" type="parTrans" cxnId="{80DF464A-70B7-420C-903D-F0AE07CFA66E}">
      <dgm:prSet/>
      <dgm:spPr/>
      <dgm:t>
        <a:bodyPr/>
        <a:lstStyle/>
        <a:p>
          <a:endParaRPr lang="en-US"/>
        </a:p>
      </dgm:t>
    </dgm:pt>
    <dgm:pt modelId="{1D45F8E0-5FA0-4525-9E1B-DD77A53EE8AE}" type="sibTrans" cxnId="{80DF464A-70B7-420C-903D-F0AE07CFA66E}">
      <dgm:prSet/>
      <dgm:spPr/>
      <dgm:t>
        <a:bodyPr/>
        <a:lstStyle/>
        <a:p>
          <a:endParaRPr lang="en-US"/>
        </a:p>
      </dgm:t>
    </dgm:pt>
    <dgm:pt modelId="{C03C88F3-F7C7-4362-AB18-78C69AE7FF8B}">
      <dgm:prSet phldrT="[Text]" phldr="0"/>
      <dgm:spPr/>
      <dgm:t>
        <a:bodyPr/>
        <a:lstStyle/>
        <a:p>
          <a:r>
            <a:rPr lang="en-US" dirty="0"/>
            <a:t>Environment Variables</a:t>
          </a:r>
        </a:p>
      </dgm:t>
    </dgm:pt>
    <dgm:pt modelId="{1C93408F-5337-43D2-B631-EBDD7AE03C4A}" type="parTrans" cxnId="{F303E82C-CDD0-460F-9697-5AD8FE4B3C3D}">
      <dgm:prSet/>
      <dgm:spPr/>
      <dgm:t>
        <a:bodyPr/>
        <a:lstStyle/>
        <a:p>
          <a:endParaRPr lang="en-US"/>
        </a:p>
      </dgm:t>
    </dgm:pt>
    <dgm:pt modelId="{A33AAB94-A861-4C30-A4F1-9E35C8795B89}" type="sibTrans" cxnId="{F303E82C-CDD0-460F-9697-5AD8FE4B3C3D}">
      <dgm:prSet/>
      <dgm:spPr/>
      <dgm:t>
        <a:bodyPr/>
        <a:lstStyle/>
        <a:p>
          <a:endParaRPr lang="en-US"/>
        </a:p>
      </dgm:t>
    </dgm:pt>
    <dgm:pt modelId="{8DBF6429-6F7C-4A73-A3D8-0FD85BF52A00}">
      <dgm:prSet phldrT="[Text]" phldr="0"/>
      <dgm:spPr/>
      <dgm:t>
        <a:bodyPr/>
        <a:lstStyle/>
        <a:p>
          <a:r>
            <a:rPr lang="en-US" dirty="0"/>
            <a:t>Agent Metadata</a:t>
          </a:r>
        </a:p>
      </dgm:t>
    </dgm:pt>
    <dgm:pt modelId="{E95EDAED-3391-4A4C-A9CE-F85B8CC86BF7}" type="parTrans" cxnId="{507C32FA-F483-469A-B251-D3DAC8678AE1}">
      <dgm:prSet/>
      <dgm:spPr/>
      <dgm:t>
        <a:bodyPr/>
        <a:lstStyle/>
        <a:p>
          <a:endParaRPr lang="en-US"/>
        </a:p>
      </dgm:t>
    </dgm:pt>
    <dgm:pt modelId="{C11E6FD9-5C02-4DB2-B379-A30A8D908729}" type="sibTrans" cxnId="{507C32FA-F483-469A-B251-D3DAC8678AE1}">
      <dgm:prSet/>
      <dgm:spPr/>
      <dgm:t>
        <a:bodyPr/>
        <a:lstStyle/>
        <a:p>
          <a:endParaRPr lang="en-US"/>
        </a:p>
      </dgm:t>
    </dgm:pt>
    <dgm:pt modelId="{81DEC4DE-23AB-43BB-A629-89C0E2B4A974}">
      <dgm:prSet phldrT="[Text]" phldr="0"/>
      <dgm:spPr/>
      <dgm:t>
        <a:bodyPr/>
        <a:lstStyle/>
        <a:p>
          <a:r>
            <a:rPr lang="en-US" dirty="0"/>
            <a:t>Markdown</a:t>
          </a:r>
        </a:p>
        <a:p>
          <a:r>
            <a:rPr lang="en-US" dirty="0"/>
            <a:t>Body</a:t>
          </a:r>
        </a:p>
      </dgm:t>
    </dgm:pt>
    <dgm:pt modelId="{663BA714-B95D-4D14-B610-14F11A960905}" type="parTrans" cxnId="{BD9BCB97-82A4-42F9-B6F2-7878CF5E995D}">
      <dgm:prSet/>
      <dgm:spPr/>
      <dgm:t>
        <a:bodyPr/>
        <a:lstStyle/>
        <a:p>
          <a:endParaRPr lang="en-US"/>
        </a:p>
      </dgm:t>
    </dgm:pt>
    <dgm:pt modelId="{D4806D4C-EB0E-460E-B59C-1A941E56B247}" type="sibTrans" cxnId="{BD9BCB97-82A4-42F9-B6F2-7878CF5E995D}">
      <dgm:prSet/>
      <dgm:spPr/>
      <dgm:t>
        <a:bodyPr/>
        <a:lstStyle/>
        <a:p>
          <a:endParaRPr lang="en-US"/>
        </a:p>
      </dgm:t>
    </dgm:pt>
    <dgm:pt modelId="{0BF4DA5C-4C0A-464C-8A20-DBFF4D3F6A85}">
      <dgm:prSet phldrT="[Text]" phldr="0"/>
      <dgm:spPr/>
      <dgm:t>
        <a:bodyPr/>
        <a:lstStyle/>
        <a:p>
          <a:r>
            <a:rPr lang="en-US" dirty="0"/>
            <a:t>Data Sourcing Requirements (RAG)</a:t>
          </a:r>
        </a:p>
      </dgm:t>
    </dgm:pt>
    <dgm:pt modelId="{B446166E-44AB-4E0B-873E-669D41E73401}" type="parTrans" cxnId="{4378044B-76EF-4641-88D7-25CA73D19E8F}">
      <dgm:prSet/>
      <dgm:spPr/>
      <dgm:t>
        <a:bodyPr/>
        <a:lstStyle/>
        <a:p>
          <a:endParaRPr lang="en-US"/>
        </a:p>
      </dgm:t>
    </dgm:pt>
    <dgm:pt modelId="{60C71B9A-9CDE-45D1-8848-551A38F2026E}" type="sibTrans" cxnId="{4378044B-76EF-4641-88D7-25CA73D19E8F}">
      <dgm:prSet/>
      <dgm:spPr/>
      <dgm:t>
        <a:bodyPr/>
        <a:lstStyle/>
        <a:p>
          <a:endParaRPr lang="en-US"/>
        </a:p>
      </dgm:t>
    </dgm:pt>
    <dgm:pt modelId="{960170C5-B57F-49DC-B932-41560118C147}">
      <dgm:prSet phldrT="[Text]" phldr="0"/>
      <dgm:spPr/>
      <dgm:t>
        <a:bodyPr/>
        <a:lstStyle/>
        <a:p>
          <a:r>
            <a:rPr lang="en-US" dirty="0"/>
            <a:t>Agent Processing Instructions</a:t>
          </a:r>
        </a:p>
      </dgm:t>
    </dgm:pt>
    <dgm:pt modelId="{A7ECBBB9-C3B2-4743-A70C-F9BEADCB90EC}" type="parTrans" cxnId="{FD1DD852-07C2-46EB-92FB-7847AFAA4B04}">
      <dgm:prSet/>
      <dgm:spPr/>
      <dgm:t>
        <a:bodyPr/>
        <a:lstStyle/>
        <a:p>
          <a:endParaRPr lang="en-US"/>
        </a:p>
      </dgm:t>
    </dgm:pt>
    <dgm:pt modelId="{B77C1E73-4FD7-4099-ADD2-E4A2693E1393}" type="sibTrans" cxnId="{FD1DD852-07C2-46EB-92FB-7847AFAA4B04}">
      <dgm:prSet/>
      <dgm:spPr/>
      <dgm:t>
        <a:bodyPr/>
        <a:lstStyle/>
        <a:p>
          <a:endParaRPr lang="en-US"/>
        </a:p>
      </dgm:t>
    </dgm:pt>
    <dgm:pt modelId="{F33F4EDB-555C-45BB-AF7A-06244A92AC86}">
      <dgm:prSet phldrT="[Text]" phldr="0"/>
      <dgm:spPr/>
      <dgm:t>
        <a:bodyPr/>
        <a:lstStyle/>
        <a:p>
          <a:r>
            <a:rPr lang="en-US" dirty="0"/>
            <a:t>Output Specification</a:t>
          </a:r>
        </a:p>
      </dgm:t>
    </dgm:pt>
    <dgm:pt modelId="{B0827BE6-6205-4725-AAEB-3A6E4BC05DE7}" type="parTrans" cxnId="{D8873043-AA86-4857-9062-C39B11E8153B}">
      <dgm:prSet/>
      <dgm:spPr/>
      <dgm:t>
        <a:bodyPr/>
        <a:lstStyle/>
        <a:p>
          <a:endParaRPr lang="en-US"/>
        </a:p>
      </dgm:t>
    </dgm:pt>
    <dgm:pt modelId="{9F64DFFC-2B0F-4062-919F-CD97A8A45A34}" type="sibTrans" cxnId="{D8873043-AA86-4857-9062-C39B11E8153B}">
      <dgm:prSet/>
      <dgm:spPr/>
      <dgm:t>
        <a:bodyPr/>
        <a:lstStyle/>
        <a:p>
          <a:endParaRPr lang="en-US"/>
        </a:p>
      </dgm:t>
    </dgm:pt>
    <dgm:pt modelId="{8CD1BEC6-1554-49BB-9545-75BD53C6A196}">
      <dgm:prSet phldrT="[Text]" phldr="0"/>
      <dgm:spPr/>
      <dgm:t>
        <a:bodyPr/>
        <a:lstStyle/>
        <a:p>
          <a:r>
            <a:rPr lang="en-US" dirty="0"/>
            <a:t>Report Format</a:t>
          </a:r>
        </a:p>
      </dgm:t>
    </dgm:pt>
    <dgm:pt modelId="{4FF549F0-F205-4934-9BCA-211F84766665}" type="parTrans" cxnId="{2D9D718D-43BB-4147-88D5-9B60FE93DDA7}">
      <dgm:prSet/>
      <dgm:spPr/>
      <dgm:t>
        <a:bodyPr/>
        <a:lstStyle/>
        <a:p>
          <a:endParaRPr lang="en-US"/>
        </a:p>
      </dgm:t>
    </dgm:pt>
    <dgm:pt modelId="{7073D32D-23D7-4C38-9107-3BDC78433272}" type="sibTrans" cxnId="{2D9D718D-43BB-4147-88D5-9B60FE93DDA7}">
      <dgm:prSet/>
      <dgm:spPr/>
      <dgm:t>
        <a:bodyPr/>
        <a:lstStyle/>
        <a:p>
          <a:endParaRPr lang="en-US"/>
        </a:p>
      </dgm:t>
    </dgm:pt>
    <dgm:pt modelId="{D6C3A7DD-75D2-4E54-A6F5-A2CA1F30D780}">
      <dgm:prSet phldrT="[Text]" phldr="0"/>
      <dgm:spPr/>
      <dgm:t>
        <a:bodyPr/>
        <a:lstStyle/>
        <a:p>
          <a:r>
            <a:rPr lang="en-US" dirty="0"/>
            <a:t>Validation Summary</a:t>
          </a:r>
        </a:p>
      </dgm:t>
    </dgm:pt>
    <dgm:pt modelId="{C09B62D3-2103-439D-940D-56F72F99F7FE}" type="parTrans" cxnId="{E6D52943-429C-4110-8185-22D8640A70CC}">
      <dgm:prSet/>
      <dgm:spPr/>
      <dgm:t>
        <a:bodyPr/>
        <a:lstStyle/>
        <a:p>
          <a:endParaRPr lang="en-US"/>
        </a:p>
      </dgm:t>
    </dgm:pt>
    <dgm:pt modelId="{55F08780-DAD3-4424-A7BE-AC87BBE74127}" type="sibTrans" cxnId="{E6D52943-429C-4110-8185-22D8640A70CC}">
      <dgm:prSet/>
      <dgm:spPr/>
      <dgm:t>
        <a:bodyPr/>
        <a:lstStyle/>
        <a:p>
          <a:endParaRPr lang="en-US"/>
        </a:p>
      </dgm:t>
    </dgm:pt>
    <dgm:pt modelId="{079E448B-0BC4-4BB7-9B5E-012F9D0A1604}">
      <dgm:prSet phldrT="[Text]" phldr="0"/>
      <dgm:spPr/>
      <dgm:t>
        <a:bodyPr/>
        <a:lstStyle/>
        <a:p>
          <a:r>
            <a:rPr lang="en-US" dirty="0"/>
            <a:t>Workflow logic</a:t>
          </a:r>
        </a:p>
      </dgm:t>
    </dgm:pt>
    <dgm:pt modelId="{8A1B45EB-9E57-4FE0-9E8C-2754DFD5BCBF}" type="parTrans" cxnId="{88DA5185-0E76-461F-A677-707ED23C1243}">
      <dgm:prSet/>
      <dgm:spPr/>
      <dgm:t>
        <a:bodyPr/>
        <a:lstStyle/>
        <a:p>
          <a:endParaRPr lang="en-US"/>
        </a:p>
      </dgm:t>
    </dgm:pt>
    <dgm:pt modelId="{80796A35-84B4-44E4-AC94-1C9302A4164C}" type="sibTrans" cxnId="{88DA5185-0E76-461F-A677-707ED23C1243}">
      <dgm:prSet/>
      <dgm:spPr/>
      <dgm:t>
        <a:bodyPr/>
        <a:lstStyle/>
        <a:p>
          <a:endParaRPr lang="en-US"/>
        </a:p>
      </dgm:t>
    </dgm:pt>
    <dgm:pt modelId="{3213F5E9-1473-42D8-89D3-E5F6D1E98618}">
      <dgm:prSet phldrT="[Text]" phldr="0"/>
      <dgm:spPr/>
      <dgm:t>
        <a:bodyPr/>
        <a:lstStyle/>
        <a:p>
          <a:r>
            <a:rPr lang="en-US"/>
            <a:t>Controls and Validation</a:t>
          </a:r>
          <a:endParaRPr lang="en-US" dirty="0"/>
        </a:p>
      </dgm:t>
    </dgm:pt>
    <dgm:pt modelId="{6DB1D642-85CE-4D93-A78B-0EC2912E9587}" type="parTrans" cxnId="{6B7CE3B2-AFCC-480D-A0A4-A5C2FC80EF0D}">
      <dgm:prSet/>
      <dgm:spPr/>
      <dgm:t>
        <a:bodyPr/>
        <a:lstStyle/>
        <a:p>
          <a:endParaRPr lang="en-US"/>
        </a:p>
      </dgm:t>
    </dgm:pt>
    <dgm:pt modelId="{E435356E-9F4E-46DB-A732-86D174441BB7}" type="sibTrans" cxnId="{6B7CE3B2-AFCC-480D-A0A4-A5C2FC80EF0D}">
      <dgm:prSet/>
      <dgm:spPr/>
      <dgm:t>
        <a:bodyPr/>
        <a:lstStyle/>
        <a:p>
          <a:endParaRPr lang="en-US"/>
        </a:p>
      </dgm:t>
    </dgm:pt>
    <dgm:pt modelId="{930F262D-C121-4C6C-8298-2FD2DDF4E339}" type="pres">
      <dgm:prSet presAssocID="{CD0DCD17-DD67-4AF3-987B-5D5471942990}" presName="linearFlow" presStyleCnt="0">
        <dgm:presLayoutVars>
          <dgm:dir/>
          <dgm:animLvl val="lvl"/>
          <dgm:resizeHandles val="exact"/>
        </dgm:presLayoutVars>
      </dgm:prSet>
      <dgm:spPr/>
    </dgm:pt>
    <dgm:pt modelId="{7E41CB5B-6786-4364-8EF8-9E91167569D5}" type="pres">
      <dgm:prSet presAssocID="{50D34D47-E331-4157-99CC-913174A62D21}" presName="composite" presStyleCnt="0"/>
      <dgm:spPr/>
    </dgm:pt>
    <dgm:pt modelId="{0F9184CF-B602-4E74-A406-605BD1DF4699}" type="pres">
      <dgm:prSet presAssocID="{50D34D47-E331-4157-99CC-913174A62D21}" presName="parentText" presStyleLbl="alignNode1" presStyleIdx="0" presStyleCnt="3">
        <dgm:presLayoutVars>
          <dgm:chMax val="1"/>
          <dgm:bulletEnabled val="1"/>
        </dgm:presLayoutVars>
      </dgm:prSet>
      <dgm:spPr/>
    </dgm:pt>
    <dgm:pt modelId="{E1D4D930-9E2F-4C04-97E5-8705EA640702}" type="pres">
      <dgm:prSet presAssocID="{50D34D47-E331-4157-99CC-913174A62D21}" presName="descendantText" presStyleLbl="alignAcc1" presStyleIdx="0" presStyleCnt="3" custLinFactNeighborX="139" custLinFactNeighborY="-751">
        <dgm:presLayoutVars>
          <dgm:bulletEnabled val="1"/>
        </dgm:presLayoutVars>
      </dgm:prSet>
      <dgm:spPr/>
    </dgm:pt>
    <dgm:pt modelId="{E82D02ED-668F-4D75-A1A5-9C3FBDB6B75A}" type="pres">
      <dgm:prSet presAssocID="{1D45F8E0-5FA0-4525-9E1B-DD77A53EE8AE}" presName="sp" presStyleCnt="0"/>
      <dgm:spPr/>
    </dgm:pt>
    <dgm:pt modelId="{F6C06AD4-A4C6-46B1-9894-8D50EF262E8D}" type="pres">
      <dgm:prSet presAssocID="{81DEC4DE-23AB-43BB-A629-89C0E2B4A974}" presName="composite" presStyleCnt="0"/>
      <dgm:spPr/>
    </dgm:pt>
    <dgm:pt modelId="{4CC4B28E-F5CA-4647-8567-3775B19C495B}" type="pres">
      <dgm:prSet presAssocID="{81DEC4DE-23AB-43BB-A629-89C0E2B4A974}" presName="parentText" presStyleLbl="alignNode1" presStyleIdx="1" presStyleCnt="3">
        <dgm:presLayoutVars>
          <dgm:chMax val="1"/>
          <dgm:bulletEnabled val="1"/>
        </dgm:presLayoutVars>
      </dgm:prSet>
      <dgm:spPr/>
    </dgm:pt>
    <dgm:pt modelId="{1E802513-725D-4991-95F2-CAD3E9921C01}" type="pres">
      <dgm:prSet presAssocID="{81DEC4DE-23AB-43BB-A629-89C0E2B4A974}" presName="descendantText" presStyleLbl="alignAcc1" presStyleIdx="1" presStyleCnt="3">
        <dgm:presLayoutVars>
          <dgm:bulletEnabled val="1"/>
        </dgm:presLayoutVars>
      </dgm:prSet>
      <dgm:spPr/>
    </dgm:pt>
    <dgm:pt modelId="{727E400B-C981-47CD-9056-BA62F26BA6C5}" type="pres">
      <dgm:prSet presAssocID="{D4806D4C-EB0E-460E-B59C-1A941E56B247}" presName="sp" presStyleCnt="0"/>
      <dgm:spPr/>
    </dgm:pt>
    <dgm:pt modelId="{9BA9BF9C-21A1-4343-8BE2-4C9113E3AE97}" type="pres">
      <dgm:prSet presAssocID="{F33F4EDB-555C-45BB-AF7A-06244A92AC86}" presName="composite" presStyleCnt="0"/>
      <dgm:spPr/>
    </dgm:pt>
    <dgm:pt modelId="{CA51ED72-AD6D-4720-AE3A-600B7DE93D11}" type="pres">
      <dgm:prSet presAssocID="{F33F4EDB-555C-45BB-AF7A-06244A92AC86}" presName="parentText" presStyleLbl="alignNode1" presStyleIdx="2" presStyleCnt="3">
        <dgm:presLayoutVars>
          <dgm:chMax val="1"/>
          <dgm:bulletEnabled val="1"/>
        </dgm:presLayoutVars>
      </dgm:prSet>
      <dgm:spPr/>
    </dgm:pt>
    <dgm:pt modelId="{CE6CCE86-C1A0-4533-8DAA-A4186B8EC2B9}" type="pres">
      <dgm:prSet presAssocID="{F33F4EDB-555C-45BB-AF7A-06244A92AC86}" presName="descendantText" presStyleLbl="alignAcc1" presStyleIdx="2" presStyleCnt="3">
        <dgm:presLayoutVars>
          <dgm:bulletEnabled val="1"/>
        </dgm:presLayoutVars>
      </dgm:prSet>
      <dgm:spPr/>
    </dgm:pt>
  </dgm:ptLst>
  <dgm:cxnLst>
    <dgm:cxn modelId="{209CF124-0007-4A3B-8194-6E6AD5C0DAC5}" type="presOf" srcId="{50D34D47-E331-4157-99CC-913174A62D21}" destId="{0F9184CF-B602-4E74-A406-605BD1DF4699}" srcOrd="0" destOrd="0" presId="urn:microsoft.com/office/officeart/2005/8/layout/chevron2"/>
    <dgm:cxn modelId="{F303E82C-CDD0-460F-9697-5AD8FE4B3C3D}" srcId="{50D34D47-E331-4157-99CC-913174A62D21}" destId="{C03C88F3-F7C7-4362-AB18-78C69AE7FF8B}" srcOrd="0" destOrd="0" parTransId="{1C93408F-5337-43D2-B631-EBDD7AE03C4A}" sibTransId="{A33AAB94-A861-4C30-A4F1-9E35C8795B89}"/>
    <dgm:cxn modelId="{E6D52943-429C-4110-8185-22D8640A70CC}" srcId="{F33F4EDB-555C-45BB-AF7A-06244A92AC86}" destId="{D6C3A7DD-75D2-4E54-A6F5-A2CA1F30D780}" srcOrd="1" destOrd="0" parTransId="{C09B62D3-2103-439D-940D-56F72F99F7FE}" sibTransId="{55F08780-DAD3-4424-A7BE-AC87BBE74127}"/>
    <dgm:cxn modelId="{D8873043-AA86-4857-9062-C39B11E8153B}" srcId="{CD0DCD17-DD67-4AF3-987B-5D5471942990}" destId="{F33F4EDB-555C-45BB-AF7A-06244A92AC86}" srcOrd="2" destOrd="0" parTransId="{B0827BE6-6205-4725-AAEB-3A6E4BC05DE7}" sibTransId="{9F64DFFC-2B0F-4062-919F-CD97A8A45A34}"/>
    <dgm:cxn modelId="{80DF464A-70B7-420C-903D-F0AE07CFA66E}" srcId="{CD0DCD17-DD67-4AF3-987B-5D5471942990}" destId="{50D34D47-E331-4157-99CC-913174A62D21}" srcOrd="0" destOrd="0" parTransId="{D3CFDD64-2ABF-4DF7-86D7-E95E3C03765E}" sibTransId="{1D45F8E0-5FA0-4525-9E1B-DD77A53EE8AE}"/>
    <dgm:cxn modelId="{F71F916A-BB90-4347-86A0-6013064F0E53}" type="presOf" srcId="{079E448B-0BC4-4BB7-9B5E-012F9D0A1604}" destId="{E1D4D930-9E2F-4C04-97E5-8705EA640702}" srcOrd="0" destOrd="2" presId="urn:microsoft.com/office/officeart/2005/8/layout/chevron2"/>
    <dgm:cxn modelId="{4378044B-76EF-4641-88D7-25CA73D19E8F}" srcId="{81DEC4DE-23AB-43BB-A629-89C0E2B4A974}" destId="{0BF4DA5C-4C0A-464C-8A20-DBFF4D3F6A85}" srcOrd="0" destOrd="0" parTransId="{B446166E-44AB-4E0B-873E-669D41E73401}" sibTransId="{60C71B9A-9CDE-45D1-8848-551A38F2026E}"/>
    <dgm:cxn modelId="{14BD0950-77CF-487E-9A9C-B5DEDBE7C5F1}" type="presOf" srcId="{F33F4EDB-555C-45BB-AF7A-06244A92AC86}" destId="{CA51ED72-AD6D-4720-AE3A-600B7DE93D11}" srcOrd="0" destOrd="0" presId="urn:microsoft.com/office/officeart/2005/8/layout/chevron2"/>
    <dgm:cxn modelId="{6DE37370-4BC3-4583-BD29-A94CE47876C4}" type="presOf" srcId="{81DEC4DE-23AB-43BB-A629-89C0E2B4A974}" destId="{4CC4B28E-F5CA-4647-8567-3775B19C495B}" srcOrd="0" destOrd="0" presId="urn:microsoft.com/office/officeart/2005/8/layout/chevron2"/>
    <dgm:cxn modelId="{FD1DD852-07C2-46EB-92FB-7847AFAA4B04}" srcId="{81DEC4DE-23AB-43BB-A629-89C0E2B4A974}" destId="{960170C5-B57F-49DC-B932-41560118C147}" srcOrd="1" destOrd="0" parTransId="{A7ECBBB9-C3B2-4743-A70C-F9BEADCB90EC}" sibTransId="{B77C1E73-4FD7-4099-ADD2-E4A2693E1393}"/>
    <dgm:cxn modelId="{E4D7C157-73A6-4FCA-8731-55D09103EEBE}" type="presOf" srcId="{3213F5E9-1473-42D8-89D3-E5F6D1E98618}" destId="{1E802513-725D-4991-95F2-CAD3E9921C01}" srcOrd="0" destOrd="2" presId="urn:microsoft.com/office/officeart/2005/8/layout/chevron2"/>
    <dgm:cxn modelId="{88DA5185-0E76-461F-A677-707ED23C1243}" srcId="{50D34D47-E331-4157-99CC-913174A62D21}" destId="{079E448B-0BC4-4BB7-9B5E-012F9D0A1604}" srcOrd="2" destOrd="0" parTransId="{8A1B45EB-9E57-4FE0-9E8C-2754DFD5BCBF}" sibTransId="{80796A35-84B4-44E4-AC94-1C9302A4164C}"/>
    <dgm:cxn modelId="{2D9D718D-43BB-4147-88D5-9B60FE93DDA7}" srcId="{F33F4EDB-555C-45BB-AF7A-06244A92AC86}" destId="{8CD1BEC6-1554-49BB-9545-75BD53C6A196}" srcOrd="0" destOrd="0" parTransId="{4FF549F0-F205-4934-9BCA-211F84766665}" sibTransId="{7073D32D-23D7-4C38-9107-3BDC78433272}"/>
    <dgm:cxn modelId="{63B8E68E-4873-47C3-9011-A91E16F4B19E}" type="presOf" srcId="{8DBF6429-6F7C-4A73-A3D8-0FD85BF52A00}" destId="{E1D4D930-9E2F-4C04-97E5-8705EA640702}" srcOrd="0" destOrd="1" presId="urn:microsoft.com/office/officeart/2005/8/layout/chevron2"/>
    <dgm:cxn modelId="{BD9BCB97-82A4-42F9-B6F2-7878CF5E995D}" srcId="{CD0DCD17-DD67-4AF3-987B-5D5471942990}" destId="{81DEC4DE-23AB-43BB-A629-89C0E2B4A974}" srcOrd="1" destOrd="0" parTransId="{663BA714-B95D-4D14-B610-14F11A960905}" sibTransId="{D4806D4C-EB0E-460E-B59C-1A941E56B247}"/>
    <dgm:cxn modelId="{6B7CE3B2-AFCC-480D-A0A4-A5C2FC80EF0D}" srcId="{81DEC4DE-23AB-43BB-A629-89C0E2B4A974}" destId="{3213F5E9-1473-42D8-89D3-E5F6D1E98618}" srcOrd="2" destOrd="0" parTransId="{6DB1D642-85CE-4D93-A78B-0EC2912E9587}" sibTransId="{E435356E-9F4E-46DB-A732-86D174441BB7}"/>
    <dgm:cxn modelId="{9EC660BF-473B-4A86-B9BA-3EB17C8B17A8}" type="presOf" srcId="{D6C3A7DD-75D2-4E54-A6F5-A2CA1F30D780}" destId="{CE6CCE86-C1A0-4533-8DAA-A4186B8EC2B9}" srcOrd="0" destOrd="1" presId="urn:microsoft.com/office/officeart/2005/8/layout/chevron2"/>
    <dgm:cxn modelId="{A7BFB3D3-E894-4544-96A4-3B38A713EBB4}" type="presOf" srcId="{CD0DCD17-DD67-4AF3-987B-5D5471942990}" destId="{930F262D-C121-4C6C-8298-2FD2DDF4E339}" srcOrd="0" destOrd="0" presId="urn:microsoft.com/office/officeart/2005/8/layout/chevron2"/>
    <dgm:cxn modelId="{0BBEA0DA-7F3D-4C49-BB67-785B2479D8B1}" type="presOf" srcId="{8CD1BEC6-1554-49BB-9545-75BD53C6A196}" destId="{CE6CCE86-C1A0-4533-8DAA-A4186B8EC2B9}" srcOrd="0" destOrd="0" presId="urn:microsoft.com/office/officeart/2005/8/layout/chevron2"/>
    <dgm:cxn modelId="{35C888DD-488D-4E7C-ADC2-AE7BCEB8E78A}" type="presOf" srcId="{C03C88F3-F7C7-4362-AB18-78C69AE7FF8B}" destId="{E1D4D930-9E2F-4C04-97E5-8705EA640702}" srcOrd="0" destOrd="0" presId="urn:microsoft.com/office/officeart/2005/8/layout/chevron2"/>
    <dgm:cxn modelId="{88375DEC-E803-4DCB-9ADC-A5F41CCD559D}" type="presOf" srcId="{0BF4DA5C-4C0A-464C-8A20-DBFF4D3F6A85}" destId="{1E802513-725D-4991-95F2-CAD3E9921C01}" srcOrd="0" destOrd="0" presId="urn:microsoft.com/office/officeart/2005/8/layout/chevron2"/>
    <dgm:cxn modelId="{507C32FA-F483-469A-B251-D3DAC8678AE1}" srcId="{50D34D47-E331-4157-99CC-913174A62D21}" destId="{8DBF6429-6F7C-4A73-A3D8-0FD85BF52A00}" srcOrd="1" destOrd="0" parTransId="{E95EDAED-3391-4A4C-A9CE-F85B8CC86BF7}" sibTransId="{C11E6FD9-5C02-4DB2-B379-A30A8D908729}"/>
    <dgm:cxn modelId="{347684FC-F50A-474D-B79E-79953B4AA10D}" type="presOf" srcId="{960170C5-B57F-49DC-B932-41560118C147}" destId="{1E802513-725D-4991-95F2-CAD3E9921C01}" srcOrd="0" destOrd="1" presId="urn:microsoft.com/office/officeart/2005/8/layout/chevron2"/>
    <dgm:cxn modelId="{23DA37FA-2760-4EE3-B0F5-8AAFDD68E05A}" type="presParOf" srcId="{930F262D-C121-4C6C-8298-2FD2DDF4E339}" destId="{7E41CB5B-6786-4364-8EF8-9E91167569D5}" srcOrd="0" destOrd="0" presId="urn:microsoft.com/office/officeart/2005/8/layout/chevron2"/>
    <dgm:cxn modelId="{A9AB0CD9-37B0-46D3-8939-D170876CB1C0}" type="presParOf" srcId="{7E41CB5B-6786-4364-8EF8-9E91167569D5}" destId="{0F9184CF-B602-4E74-A406-605BD1DF4699}" srcOrd="0" destOrd="0" presId="urn:microsoft.com/office/officeart/2005/8/layout/chevron2"/>
    <dgm:cxn modelId="{33FDDED9-1E6B-4452-99EE-F1632A88774B}" type="presParOf" srcId="{7E41CB5B-6786-4364-8EF8-9E91167569D5}" destId="{E1D4D930-9E2F-4C04-97E5-8705EA640702}" srcOrd="1" destOrd="0" presId="urn:microsoft.com/office/officeart/2005/8/layout/chevron2"/>
    <dgm:cxn modelId="{E01AA9D3-2A73-409D-BD39-534ACB74D9B1}" type="presParOf" srcId="{930F262D-C121-4C6C-8298-2FD2DDF4E339}" destId="{E82D02ED-668F-4D75-A1A5-9C3FBDB6B75A}" srcOrd="1" destOrd="0" presId="urn:microsoft.com/office/officeart/2005/8/layout/chevron2"/>
    <dgm:cxn modelId="{AFBBEBA3-5BFD-4FDF-B812-8B773355E569}" type="presParOf" srcId="{930F262D-C121-4C6C-8298-2FD2DDF4E339}" destId="{F6C06AD4-A4C6-46B1-9894-8D50EF262E8D}" srcOrd="2" destOrd="0" presId="urn:microsoft.com/office/officeart/2005/8/layout/chevron2"/>
    <dgm:cxn modelId="{0BAA93BD-F59E-485F-8096-1BA5408F75BE}" type="presParOf" srcId="{F6C06AD4-A4C6-46B1-9894-8D50EF262E8D}" destId="{4CC4B28E-F5CA-4647-8567-3775B19C495B}" srcOrd="0" destOrd="0" presId="urn:microsoft.com/office/officeart/2005/8/layout/chevron2"/>
    <dgm:cxn modelId="{21F958E4-70F8-4E81-A45E-D8244D75899A}" type="presParOf" srcId="{F6C06AD4-A4C6-46B1-9894-8D50EF262E8D}" destId="{1E802513-725D-4991-95F2-CAD3E9921C01}" srcOrd="1" destOrd="0" presId="urn:microsoft.com/office/officeart/2005/8/layout/chevron2"/>
    <dgm:cxn modelId="{2BB51C55-6B71-4E20-964E-71E9DFD282CB}" type="presParOf" srcId="{930F262D-C121-4C6C-8298-2FD2DDF4E339}" destId="{727E400B-C981-47CD-9056-BA62F26BA6C5}" srcOrd="3" destOrd="0" presId="urn:microsoft.com/office/officeart/2005/8/layout/chevron2"/>
    <dgm:cxn modelId="{FA1FC342-F44C-4C23-B5DA-9E727F03878C}" type="presParOf" srcId="{930F262D-C121-4C6C-8298-2FD2DDF4E339}" destId="{9BA9BF9C-21A1-4343-8BE2-4C9113E3AE97}" srcOrd="4" destOrd="0" presId="urn:microsoft.com/office/officeart/2005/8/layout/chevron2"/>
    <dgm:cxn modelId="{A541B6EF-0BB5-48D1-8F3A-CC717C206891}" type="presParOf" srcId="{9BA9BF9C-21A1-4343-8BE2-4C9113E3AE97}" destId="{CA51ED72-AD6D-4720-AE3A-600B7DE93D11}" srcOrd="0" destOrd="0" presId="urn:microsoft.com/office/officeart/2005/8/layout/chevron2"/>
    <dgm:cxn modelId="{F340D842-DD2E-4441-8564-C78797B4E091}" type="presParOf" srcId="{9BA9BF9C-21A1-4343-8BE2-4C9113E3AE97}" destId="{CE6CCE86-C1A0-4533-8DAA-A4186B8EC2B9}"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9184CF-B602-4E74-A406-605BD1DF4699}">
      <dsp:nvSpPr>
        <dsp:cNvPr id="0" name=""/>
        <dsp:cNvSpPr/>
      </dsp:nvSpPr>
      <dsp:spPr>
        <a:xfrm rot="5400000">
          <a:off x="-247287" y="249251"/>
          <a:ext cx="1648586" cy="1154010"/>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YAML </a:t>
          </a:r>
        </a:p>
        <a:p>
          <a:pPr marL="0" lvl="0" indent="0" algn="ctr" defTabSz="622300">
            <a:lnSpc>
              <a:spcPct val="90000"/>
            </a:lnSpc>
            <a:spcBef>
              <a:spcPct val="0"/>
            </a:spcBef>
            <a:spcAft>
              <a:spcPct val="35000"/>
            </a:spcAft>
            <a:buNone/>
          </a:pPr>
          <a:r>
            <a:rPr lang="en-US" sz="1400" kern="1200" dirty="0"/>
            <a:t>Front Matter</a:t>
          </a:r>
        </a:p>
      </dsp:txBody>
      <dsp:txXfrm rot="-5400000">
        <a:off x="1" y="578968"/>
        <a:ext cx="1154010" cy="494576"/>
      </dsp:txXfrm>
    </dsp:sp>
    <dsp:sp modelId="{E1D4D930-9E2F-4C04-97E5-8705EA640702}">
      <dsp:nvSpPr>
        <dsp:cNvPr id="0" name=""/>
        <dsp:cNvSpPr/>
      </dsp:nvSpPr>
      <dsp:spPr>
        <a:xfrm rot="5400000">
          <a:off x="4368117" y="-3214106"/>
          <a:ext cx="1071581" cy="7499794"/>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Environment Variables</a:t>
          </a:r>
        </a:p>
        <a:p>
          <a:pPr marL="228600" lvl="1" indent="-228600" algn="l" defTabSz="889000">
            <a:lnSpc>
              <a:spcPct val="90000"/>
            </a:lnSpc>
            <a:spcBef>
              <a:spcPct val="0"/>
            </a:spcBef>
            <a:spcAft>
              <a:spcPct val="15000"/>
            </a:spcAft>
            <a:buChar char="•"/>
          </a:pPr>
          <a:r>
            <a:rPr lang="en-US" sz="2000" kern="1200" dirty="0"/>
            <a:t>Agent Metadata</a:t>
          </a:r>
        </a:p>
        <a:p>
          <a:pPr marL="228600" lvl="1" indent="-228600" algn="l" defTabSz="889000">
            <a:lnSpc>
              <a:spcPct val="90000"/>
            </a:lnSpc>
            <a:spcBef>
              <a:spcPct val="0"/>
            </a:spcBef>
            <a:spcAft>
              <a:spcPct val="15000"/>
            </a:spcAft>
            <a:buChar char="•"/>
          </a:pPr>
          <a:r>
            <a:rPr lang="en-US" sz="2000" kern="1200" dirty="0"/>
            <a:t>Workflow logic</a:t>
          </a:r>
        </a:p>
      </dsp:txBody>
      <dsp:txXfrm rot="-5400000">
        <a:off x="1154011" y="52310"/>
        <a:ext cx="7447484" cy="966961"/>
      </dsp:txXfrm>
    </dsp:sp>
    <dsp:sp modelId="{4CC4B28E-F5CA-4647-8567-3775B19C495B}">
      <dsp:nvSpPr>
        <dsp:cNvPr id="0" name=""/>
        <dsp:cNvSpPr/>
      </dsp:nvSpPr>
      <dsp:spPr>
        <a:xfrm rot="5400000">
          <a:off x="-247287" y="1704281"/>
          <a:ext cx="1648586" cy="1154010"/>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Markdown</a:t>
          </a:r>
        </a:p>
        <a:p>
          <a:pPr marL="0" lvl="0" indent="0" algn="ctr" defTabSz="622300">
            <a:lnSpc>
              <a:spcPct val="90000"/>
            </a:lnSpc>
            <a:spcBef>
              <a:spcPct val="0"/>
            </a:spcBef>
            <a:spcAft>
              <a:spcPct val="35000"/>
            </a:spcAft>
            <a:buNone/>
          </a:pPr>
          <a:r>
            <a:rPr lang="en-US" sz="1400" kern="1200" dirty="0"/>
            <a:t>Body</a:t>
          </a:r>
        </a:p>
      </dsp:txBody>
      <dsp:txXfrm rot="-5400000">
        <a:off x="1" y="2033998"/>
        <a:ext cx="1154010" cy="494576"/>
      </dsp:txXfrm>
    </dsp:sp>
    <dsp:sp modelId="{1E802513-725D-4991-95F2-CAD3E9921C01}">
      <dsp:nvSpPr>
        <dsp:cNvPr id="0" name=""/>
        <dsp:cNvSpPr/>
      </dsp:nvSpPr>
      <dsp:spPr>
        <a:xfrm rot="5400000">
          <a:off x="4368117" y="-1757112"/>
          <a:ext cx="1071581" cy="7499794"/>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Data Sourcing Requirements (RAG)</a:t>
          </a:r>
        </a:p>
        <a:p>
          <a:pPr marL="228600" lvl="1" indent="-228600" algn="l" defTabSz="889000">
            <a:lnSpc>
              <a:spcPct val="90000"/>
            </a:lnSpc>
            <a:spcBef>
              <a:spcPct val="0"/>
            </a:spcBef>
            <a:spcAft>
              <a:spcPct val="15000"/>
            </a:spcAft>
            <a:buChar char="•"/>
          </a:pPr>
          <a:r>
            <a:rPr lang="en-US" sz="2000" kern="1200" dirty="0"/>
            <a:t>Agent Processing Instructions</a:t>
          </a:r>
        </a:p>
        <a:p>
          <a:pPr marL="228600" lvl="1" indent="-228600" algn="l" defTabSz="889000">
            <a:lnSpc>
              <a:spcPct val="90000"/>
            </a:lnSpc>
            <a:spcBef>
              <a:spcPct val="0"/>
            </a:spcBef>
            <a:spcAft>
              <a:spcPct val="15000"/>
            </a:spcAft>
            <a:buChar char="•"/>
          </a:pPr>
          <a:r>
            <a:rPr lang="en-US" sz="2000" kern="1200"/>
            <a:t>Controls and Validation</a:t>
          </a:r>
          <a:endParaRPr lang="en-US" sz="2000" kern="1200" dirty="0"/>
        </a:p>
      </dsp:txBody>
      <dsp:txXfrm rot="-5400000">
        <a:off x="1154011" y="1509304"/>
        <a:ext cx="7447484" cy="966961"/>
      </dsp:txXfrm>
    </dsp:sp>
    <dsp:sp modelId="{CA51ED72-AD6D-4720-AE3A-600B7DE93D11}">
      <dsp:nvSpPr>
        <dsp:cNvPr id="0" name=""/>
        <dsp:cNvSpPr/>
      </dsp:nvSpPr>
      <dsp:spPr>
        <a:xfrm rot="5400000">
          <a:off x="-247287" y="3159311"/>
          <a:ext cx="1648586" cy="1154010"/>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Output Specification</a:t>
          </a:r>
        </a:p>
      </dsp:txBody>
      <dsp:txXfrm rot="-5400000">
        <a:off x="1" y="3489028"/>
        <a:ext cx="1154010" cy="494576"/>
      </dsp:txXfrm>
    </dsp:sp>
    <dsp:sp modelId="{CE6CCE86-C1A0-4533-8DAA-A4186B8EC2B9}">
      <dsp:nvSpPr>
        <dsp:cNvPr id="0" name=""/>
        <dsp:cNvSpPr/>
      </dsp:nvSpPr>
      <dsp:spPr>
        <a:xfrm rot="5400000">
          <a:off x="4368117" y="-302082"/>
          <a:ext cx="1071581" cy="7499794"/>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Report Format</a:t>
          </a:r>
        </a:p>
        <a:p>
          <a:pPr marL="228600" lvl="1" indent="-228600" algn="l" defTabSz="889000">
            <a:lnSpc>
              <a:spcPct val="90000"/>
            </a:lnSpc>
            <a:spcBef>
              <a:spcPct val="0"/>
            </a:spcBef>
            <a:spcAft>
              <a:spcPct val="15000"/>
            </a:spcAft>
            <a:buChar char="•"/>
          </a:pPr>
          <a:r>
            <a:rPr lang="en-US" sz="2000" kern="1200" dirty="0"/>
            <a:t>Validation Summary</a:t>
          </a:r>
        </a:p>
      </dsp:txBody>
      <dsp:txXfrm rot="-5400000">
        <a:off x="1154011" y="2964334"/>
        <a:ext cx="7447484" cy="96696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D434F4-C773-4974-B845-79544B7DA9C3}"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1492AF-DAAA-4308-9C60-8617B849701E}" type="slidenum">
              <a:rPr lang="en-US" smtClean="0"/>
              <a:t>‹#›</a:t>
            </a:fld>
            <a:endParaRPr lang="en-US"/>
          </a:p>
        </p:txBody>
      </p:sp>
    </p:spTree>
    <p:extLst>
      <p:ext uri="{BB962C8B-B14F-4D97-AF65-F5344CB8AC3E}">
        <p14:creationId xmlns:p14="http://schemas.microsoft.com/office/powerpoint/2010/main" val="710120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all for joining, this is Generative Context Engineering – Simplified… (click twice)… first of all can we all agree to completely remove the letters AI from the English language.  Surely there is a better descriptor, maybe we will have one by the end of this session. Generative LLM Context Engineering will have to do for now!</a:t>
            </a:r>
          </a:p>
        </p:txBody>
      </p:sp>
      <p:sp>
        <p:nvSpPr>
          <p:cNvPr id="4" name="Slide Number Placeholder 3"/>
          <p:cNvSpPr>
            <a:spLocks noGrp="1"/>
          </p:cNvSpPr>
          <p:nvPr>
            <p:ph type="sldNum" sz="quarter" idx="5"/>
          </p:nvPr>
        </p:nvSpPr>
        <p:spPr/>
        <p:txBody>
          <a:bodyPr/>
          <a:lstStyle/>
          <a:p>
            <a:fld id="{DD1492AF-DAAA-4308-9C60-8617B849701E}" type="slidenum">
              <a:rPr lang="en-US" smtClean="0"/>
              <a:t>1</a:t>
            </a:fld>
            <a:endParaRPr lang="en-US"/>
          </a:p>
        </p:txBody>
      </p:sp>
    </p:spTree>
    <p:extLst>
      <p:ext uri="{BB962C8B-B14F-4D97-AF65-F5344CB8AC3E}">
        <p14:creationId xmlns:p14="http://schemas.microsoft.com/office/powerpoint/2010/main" val="2709200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Robert Maxwell, and I will be your tour guide for the next 50 minutes or so…  Over the years I have been accused of several titles… Actuary, IT Guy, Data Guy, Fund Manager, Day Trader, Jazz Musician, Mountain Bike “Coach”, Tinkerer… of these I do take some exception… I DO NOT DAY TRADE!  …btw do you know what all of those career hobbies have in common?  They involve predictive pattern recognition…  (click to the agenda… read agenda</a:t>
            </a:r>
          </a:p>
        </p:txBody>
      </p:sp>
      <p:sp>
        <p:nvSpPr>
          <p:cNvPr id="4" name="Slide Number Placeholder 3"/>
          <p:cNvSpPr>
            <a:spLocks noGrp="1"/>
          </p:cNvSpPr>
          <p:nvPr>
            <p:ph type="sldNum" sz="quarter" idx="5"/>
          </p:nvPr>
        </p:nvSpPr>
        <p:spPr/>
        <p:txBody>
          <a:bodyPr/>
          <a:lstStyle/>
          <a:p>
            <a:fld id="{DD1492AF-DAAA-4308-9C60-8617B849701E}" type="slidenum">
              <a:rPr lang="en-US" smtClean="0"/>
              <a:t>2</a:t>
            </a:fld>
            <a:endParaRPr lang="en-US"/>
          </a:p>
        </p:txBody>
      </p:sp>
    </p:spTree>
    <p:extLst>
      <p:ext uri="{BB962C8B-B14F-4D97-AF65-F5344CB8AC3E}">
        <p14:creationId xmlns:p14="http://schemas.microsoft.com/office/powerpoint/2010/main" val="123924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Apprehensive about using and LLM… of course you’re not!  This is full stack actuarial!  Maybe you are just apprehensive about paying attention to my voice, either way (click) you can find all the handouts and agents we use in this presentation in the link and QR code here. … (click)</a:t>
            </a:r>
          </a:p>
        </p:txBody>
      </p:sp>
      <p:sp>
        <p:nvSpPr>
          <p:cNvPr id="4" name="Slide Number Placeholder 3"/>
          <p:cNvSpPr>
            <a:spLocks noGrp="1"/>
          </p:cNvSpPr>
          <p:nvPr>
            <p:ph type="sldNum" sz="quarter" idx="5"/>
          </p:nvPr>
        </p:nvSpPr>
        <p:spPr/>
        <p:txBody>
          <a:bodyPr/>
          <a:lstStyle/>
          <a:p>
            <a:fld id="{DD1492AF-DAAA-4308-9C60-8617B849701E}" type="slidenum">
              <a:rPr lang="en-US" smtClean="0"/>
              <a:t>3</a:t>
            </a:fld>
            <a:endParaRPr lang="en-US"/>
          </a:p>
        </p:txBody>
      </p:sp>
    </p:spTree>
    <p:extLst>
      <p:ext uri="{BB962C8B-B14F-4D97-AF65-F5344CB8AC3E}">
        <p14:creationId xmlns:p14="http://schemas.microsoft.com/office/powerpoint/2010/main" val="146154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Apprehension is exactly what you should be doing with your LLM to learn how to manage.  This graphic is a quick way to contrast learning styles.  (quickly read/summarize the graphic)  The first half of todays focus will fall on some of the “book learning” configuration parts of your LLM setup.  The various models on the market are relatively the same.  You should be comfortable with the fact that most of the learning and application will come through practice and testing from the left side of this dichotomy.</a:t>
            </a:r>
          </a:p>
        </p:txBody>
      </p:sp>
      <p:sp>
        <p:nvSpPr>
          <p:cNvPr id="4" name="Slide Number Placeholder 3"/>
          <p:cNvSpPr>
            <a:spLocks noGrp="1"/>
          </p:cNvSpPr>
          <p:nvPr>
            <p:ph type="sldNum" sz="quarter" idx="5"/>
          </p:nvPr>
        </p:nvSpPr>
        <p:spPr/>
        <p:txBody>
          <a:bodyPr/>
          <a:lstStyle/>
          <a:p>
            <a:fld id="{DD1492AF-DAAA-4308-9C60-8617B849701E}" type="slidenum">
              <a:rPr lang="en-US" smtClean="0"/>
              <a:t>4</a:t>
            </a:fld>
            <a:endParaRPr lang="en-US"/>
          </a:p>
        </p:txBody>
      </p:sp>
    </p:spTree>
    <p:extLst>
      <p:ext uri="{BB962C8B-B14F-4D97-AF65-F5344CB8AC3E}">
        <p14:creationId xmlns:p14="http://schemas.microsoft.com/office/powerpoint/2010/main" val="90334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Context Engineering?</a:t>
            </a:r>
          </a:p>
        </p:txBody>
      </p:sp>
      <p:sp>
        <p:nvSpPr>
          <p:cNvPr id="4" name="Slide Number Placeholder 3"/>
          <p:cNvSpPr>
            <a:spLocks noGrp="1"/>
          </p:cNvSpPr>
          <p:nvPr>
            <p:ph type="sldNum" sz="quarter" idx="5"/>
          </p:nvPr>
        </p:nvSpPr>
        <p:spPr/>
        <p:txBody>
          <a:bodyPr/>
          <a:lstStyle/>
          <a:p>
            <a:fld id="{DD1492AF-DAAA-4308-9C60-8617B849701E}" type="slidenum">
              <a:rPr lang="en-US" smtClean="0"/>
              <a:t>5</a:t>
            </a:fld>
            <a:endParaRPr lang="en-US"/>
          </a:p>
        </p:txBody>
      </p:sp>
    </p:spTree>
    <p:extLst>
      <p:ext uri="{BB962C8B-B14F-4D97-AF65-F5344CB8AC3E}">
        <p14:creationId xmlns:p14="http://schemas.microsoft.com/office/powerpoint/2010/main" val="2455248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basic parts that make up our model/agent combination.  Very Simply (click) Native Training (read the bullet),  (click) Context Window (read), (click) Tokens (read), (click) LLM Logical Processing…</a:t>
            </a:r>
          </a:p>
          <a:p>
            <a:r>
              <a:rPr lang="en-US" dirty="0"/>
              <a:t>For those that don’t know, an LLM is a very fast, very deep language pattern prediction tool.  It’s job is to predict the next string of tokens based on the massive confluence of native training and user context provided in the session.  Simple…</a:t>
            </a:r>
          </a:p>
        </p:txBody>
      </p:sp>
      <p:sp>
        <p:nvSpPr>
          <p:cNvPr id="4" name="Slide Number Placeholder 3"/>
          <p:cNvSpPr>
            <a:spLocks noGrp="1"/>
          </p:cNvSpPr>
          <p:nvPr>
            <p:ph type="sldNum" sz="quarter" idx="5"/>
          </p:nvPr>
        </p:nvSpPr>
        <p:spPr/>
        <p:txBody>
          <a:bodyPr/>
          <a:lstStyle/>
          <a:p>
            <a:fld id="{DD1492AF-DAAA-4308-9C60-8617B849701E}" type="slidenum">
              <a:rPr lang="en-US" smtClean="0"/>
              <a:t>6</a:t>
            </a:fld>
            <a:endParaRPr lang="en-US"/>
          </a:p>
        </p:txBody>
      </p:sp>
    </p:spTree>
    <p:extLst>
      <p:ext uri="{BB962C8B-B14F-4D97-AF65-F5344CB8AC3E}">
        <p14:creationId xmlns:p14="http://schemas.microsoft.com/office/powerpoint/2010/main" val="3663935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a token equate to in real terms?  This table will help you with the scope of the project you are trying to tackle.  I’ve have very good experience with 500 page books btw.  (click)</a:t>
            </a:r>
          </a:p>
        </p:txBody>
      </p:sp>
      <p:sp>
        <p:nvSpPr>
          <p:cNvPr id="4" name="Slide Number Placeholder 3"/>
          <p:cNvSpPr>
            <a:spLocks noGrp="1"/>
          </p:cNvSpPr>
          <p:nvPr>
            <p:ph type="sldNum" sz="quarter" idx="5"/>
          </p:nvPr>
        </p:nvSpPr>
        <p:spPr/>
        <p:txBody>
          <a:bodyPr/>
          <a:lstStyle/>
          <a:p>
            <a:fld id="{DD1492AF-DAAA-4308-9C60-8617B849701E}" type="slidenum">
              <a:rPr lang="en-US" smtClean="0"/>
              <a:t>7</a:t>
            </a:fld>
            <a:endParaRPr lang="en-US"/>
          </a:p>
        </p:txBody>
      </p:sp>
    </p:spTree>
    <p:extLst>
      <p:ext uri="{BB962C8B-B14F-4D97-AF65-F5344CB8AC3E}">
        <p14:creationId xmlns:p14="http://schemas.microsoft.com/office/powerpoint/2010/main" val="871747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deeper… the time of this recording Dec 4, 2025, these are the approximate limits for the context on each LLM model platform.  These numbers have been increasing with each release.  BUT, it is very important that you have an understanding of your context window requirements so that you use a model that will support.  Token budget is very important. (next click)</a:t>
            </a:r>
          </a:p>
        </p:txBody>
      </p:sp>
      <p:sp>
        <p:nvSpPr>
          <p:cNvPr id="4" name="Slide Number Placeholder 3"/>
          <p:cNvSpPr>
            <a:spLocks noGrp="1"/>
          </p:cNvSpPr>
          <p:nvPr>
            <p:ph type="sldNum" sz="quarter" idx="5"/>
          </p:nvPr>
        </p:nvSpPr>
        <p:spPr/>
        <p:txBody>
          <a:bodyPr/>
          <a:lstStyle/>
          <a:p>
            <a:fld id="{DD1492AF-DAAA-4308-9C60-8617B849701E}" type="slidenum">
              <a:rPr lang="en-US" smtClean="0"/>
              <a:t>8</a:t>
            </a:fld>
            <a:endParaRPr lang="en-US"/>
          </a:p>
        </p:txBody>
      </p:sp>
    </p:spTree>
    <p:extLst>
      <p:ext uri="{BB962C8B-B14F-4D97-AF65-F5344CB8AC3E}">
        <p14:creationId xmlns:p14="http://schemas.microsoft.com/office/powerpoint/2010/main" val="2437015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all are likely very familiar with a prompt interface.  What we are going to be doing here is building agents that have a mix of formatted components in the text file.</a:t>
            </a:r>
          </a:p>
          <a:p>
            <a:endParaRPr lang="en-US" dirty="0"/>
          </a:p>
          <a:p>
            <a:r>
              <a:rPr lang="en-US" dirty="0"/>
              <a:t>Obviously, language models are designed to read plain text, …not so obviously, the are even better skilled to recognize and operate on markdown, </a:t>
            </a:r>
            <a:r>
              <a:rPr lang="en-US" dirty="0" err="1"/>
              <a:t>yaml</a:t>
            </a:r>
            <a:r>
              <a:rPr lang="en-US" dirty="0"/>
              <a:t>, </a:t>
            </a:r>
            <a:r>
              <a:rPr lang="en-US" dirty="0" err="1"/>
              <a:t>json</a:t>
            </a:r>
            <a:r>
              <a:rPr lang="en-US" dirty="0"/>
              <a:t> formats to name a few.</a:t>
            </a:r>
          </a:p>
          <a:p>
            <a:endParaRPr lang="en-US" dirty="0"/>
          </a:p>
          <a:p>
            <a:r>
              <a:rPr lang="en-US" dirty="0"/>
              <a:t>An agent file can contain several formats that are best appropriate for its step in the workflow.  You should think of markdown and </a:t>
            </a:r>
            <a:r>
              <a:rPr lang="en-US" dirty="0" err="1"/>
              <a:t>yaml</a:t>
            </a:r>
            <a:r>
              <a:rPr lang="en-US" dirty="0"/>
              <a:t> as pseudocode  (click)</a:t>
            </a:r>
          </a:p>
        </p:txBody>
      </p:sp>
      <p:sp>
        <p:nvSpPr>
          <p:cNvPr id="4" name="Slide Number Placeholder 3"/>
          <p:cNvSpPr>
            <a:spLocks noGrp="1"/>
          </p:cNvSpPr>
          <p:nvPr>
            <p:ph type="sldNum" sz="quarter" idx="5"/>
          </p:nvPr>
        </p:nvSpPr>
        <p:spPr/>
        <p:txBody>
          <a:bodyPr/>
          <a:lstStyle/>
          <a:p>
            <a:fld id="{DD1492AF-DAAA-4308-9C60-8617B849701E}" type="slidenum">
              <a:rPr lang="en-US" smtClean="0"/>
              <a:t>9</a:t>
            </a:fld>
            <a:endParaRPr lang="en-US"/>
          </a:p>
        </p:txBody>
      </p:sp>
    </p:spTree>
    <p:extLst>
      <p:ext uri="{BB962C8B-B14F-4D97-AF65-F5344CB8AC3E}">
        <p14:creationId xmlns:p14="http://schemas.microsoft.com/office/powerpoint/2010/main" val="2380452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experience YAML is far superior as a front matter header and workflow orchestrator.  If you aren’t familiar with YAML… it stands for “YAML </a:t>
            </a:r>
            <a:r>
              <a:rPr lang="en-US" dirty="0" err="1"/>
              <a:t>ain’t</a:t>
            </a:r>
            <a:r>
              <a:rPr lang="en-US" dirty="0"/>
              <a:t> markup language”.  YAML was originally designed as an extension of </a:t>
            </a:r>
            <a:r>
              <a:rPr lang="en-US" dirty="0" err="1"/>
              <a:t>json</a:t>
            </a:r>
            <a:r>
              <a:rPr lang="en-US" dirty="0"/>
              <a:t> standard.  In the handout repository you will find a detailed user guide on </a:t>
            </a:r>
            <a:r>
              <a:rPr lang="en-US" dirty="0" err="1"/>
              <a:t>yaml</a:t>
            </a:r>
            <a:r>
              <a:rPr lang="en-US" dirty="0"/>
              <a:t> formatting, environment parameters and proper formatting to build most any workflow.</a:t>
            </a:r>
          </a:p>
          <a:p>
            <a:endParaRPr lang="en-US" dirty="0"/>
          </a:p>
          <a:p>
            <a:r>
              <a:rPr lang="en-US" dirty="0"/>
              <a:t>For the main body, I typically use Markdown format.  It is native note taking format for </a:t>
            </a:r>
            <a:r>
              <a:rPr lang="en-US" dirty="0" err="1"/>
              <a:t>pycharm</a:t>
            </a:r>
            <a:r>
              <a:rPr lang="en-US" dirty="0"/>
              <a:t>, </a:t>
            </a:r>
            <a:r>
              <a:rPr lang="en-US" dirty="0" err="1"/>
              <a:t>jupyter</a:t>
            </a:r>
            <a:r>
              <a:rPr lang="en-US" dirty="0"/>
              <a:t> notebooks and </a:t>
            </a:r>
            <a:r>
              <a:rPr lang="en-US" dirty="0" err="1"/>
              <a:t>github</a:t>
            </a:r>
            <a:r>
              <a:rPr lang="en-US" dirty="0"/>
              <a:t>.  Markdown seems to be the preferred language of LLMs…  If you aren’t currently using it for your documentation standard I would suggest exploring.  Converting to word and pdfs are a fairly simple exercise and there are many utilities available.</a:t>
            </a:r>
          </a:p>
          <a:p>
            <a:endParaRPr lang="en-US" dirty="0"/>
          </a:p>
          <a:p>
            <a:r>
              <a:rPr lang="en-US" dirty="0"/>
              <a:t>Lastly the structure of this basic agent workflow is the output specification.  If you want consistent reporting and output from the model, </a:t>
            </a:r>
            <a:r>
              <a:rPr lang="en-US"/>
              <a:t>output template is the way to go!</a:t>
            </a:r>
            <a:endParaRPr lang="en-US" dirty="0"/>
          </a:p>
        </p:txBody>
      </p:sp>
      <p:sp>
        <p:nvSpPr>
          <p:cNvPr id="4" name="Slide Number Placeholder 3"/>
          <p:cNvSpPr>
            <a:spLocks noGrp="1"/>
          </p:cNvSpPr>
          <p:nvPr>
            <p:ph type="sldNum" sz="quarter" idx="5"/>
          </p:nvPr>
        </p:nvSpPr>
        <p:spPr/>
        <p:txBody>
          <a:bodyPr/>
          <a:lstStyle/>
          <a:p>
            <a:fld id="{DD1492AF-DAAA-4308-9C60-8617B849701E}" type="slidenum">
              <a:rPr lang="en-US" smtClean="0"/>
              <a:t>10</a:t>
            </a:fld>
            <a:endParaRPr lang="en-US"/>
          </a:p>
        </p:txBody>
      </p:sp>
    </p:spTree>
    <p:extLst>
      <p:ext uri="{BB962C8B-B14F-4D97-AF65-F5344CB8AC3E}">
        <p14:creationId xmlns:p14="http://schemas.microsoft.com/office/powerpoint/2010/main" val="2621032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7212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3156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soli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a:prstGeom prst="rect">
            <a:avLst/>
          </a:prstGeo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a:prstGeom prst="rect">
            <a:avLst/>
          </a:prstGeo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a:prstGeom prst="rect">
            <a:avLst/>
          </a:prstGeom>
        </p:spPr>
        <p:txBody>
          <a:bodyPr/>
          <a:lstStyle/>
          <a:p>
            <a:fld id="{D6BE4793-EB6E-4246-9E7B-350CE75312EA}" type="datetimeFigureOut">
              <a:rPr lang="en-US" smtClean="0"/>
              <a:t>12/8/2025</a:t>
            </a:fld>
            <a:endParaRPr lang="en-US"/>
          </a:p>
        </p:txBody>
      </p:sp>
      <p:sp>
        <p:nvSpPr>
          <p:cNvPr id="5" name="Footer Placeholder 4"/>
          <p:cNvSpPr>
            <a:spLocks noGrp="1"/>
          </p:cNvSpPr>
          <p:nvPr>
            <p:ph type="ftr" sz="quarter" idx="11"/>
          </p:nvPr>
        </p:nvSpPr>
        <p:spPr>
          <a:xfrm>
            <a:off x="3962399" y="5870575"/>
            <a:ext cx="4893958"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608958"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992617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131425" cy="1456267"/>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85801" y="2142067"/>
            <a:ext cx="10131425" cy="3649133"/>
          </a:xfrm>
          <a:prstGeom prst="rect">
            <a:avLst/>
          </a:prstGeo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2973127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a:prstGeom prst="rect">
            <a:avLst/>
          </a:prstGeo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a:prstGeom prst="rect">
            <a:avLst/>
          </a:prstGeo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365234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131425" cy="1456267"/>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6" name="Footer Placeholder 5"/>
          <p:cNvSpPr>
            <a:spLocks noGrp="1"/>
          </p:cNvSpPr>
          <p:nvPr>
            <p:ph type="ftr" sz="quarter" idx="11"/>
          </p:nvPr>
        </p:nvSpPr>
        <p:spPr>
          <a:xfrm>
            <a:off x="685800" y="5870575"/>
            <a:ext cx="7827659" cy="377825"/>
          </a:xfrm>
          <a:prstGeom prst="rect">
            <a:avLst/>
          </a:prstGeom>
        </p:spPr>
        <p:txBody>
          <a:bodyPr/>
          <a:lstStyle/>
          <a:p>
            <a:endParaRPr lang="en-US"/>
          </a:p>
        </p:txBody>
      </p:sp>
      <p:sp>
        <p:nvSpPr>
          <p:cNvPr id="7" name="Slide Number Placeholder 6"/>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527587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10131425" cy="1456267"/>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a:prstGeom prst="rect">
            <a:avLst/>
          </a:prstGeo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a:prstGeom prst="rect">
            <a:avLst/>
          </a:prstGeo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a:prstGeom prst="rect">
            <a:avLst/>
          </a:prstGeo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a:prstGeom prst="rect">
            <a:avLst/>
          </a:prstGeo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8" name="Footer Placeholder 7"/>
          <p:cNvSpPr>
            <a:spLocks noGrp="1"/>
          </p:cNvSpPr>
          <p:nvPr>
            <p:ph type="ftr" sz="quarter" idx="11"/>
          </p:nvPr>
        </p:nvSpPr>
        <p:spPr>
          <a:xfrm>
            <a:off x="685800" y="5870575"/>
            <a:ext cx="7827659" cy="377825"/>
          </a:xfrm>
          <a:prstGeom prst="rect">
            <a:avLst/>
          </a:prstGeom>
        </p:spPr>
        <p:txBody>
          <a:bodyPr/>
          <a:lstStyle/>
          <a:p>
            <a:endParaRPr lang="en-US"/>
          </a:p>
        </p:txBody>
      </p:sp>
      <p:sp>
        <p:nvSpPr>
          <p:cNvPr id="9" name="Slide Number Placeholder 8"/>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580198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131425" cy="1456267"/>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4" name="Footer Placeholder 3"/>
          <p:cNvSpPr>
            <a:spLocks noGrp="1"/>
          </p:cNvSpPr>
          <p:nvPr>
            <p:ph type="ftr" sz="quarter" idx="11"/>
          </p:nvPr>
        </p:nvSpPr>
        <p:spPr>
          <a:xfrm>
            <a:off x="685800" y="5870575"/>
            <a:ext cx="7827659" cy="377825"/>
          </a:xfrm>
          <a:prstGeom prst="rect">
            <a:avLst/>
          </a:prstGeom>
        </p:spPr>
        <p:txBody>
          <a:bodyPr/>
          <a:lstStyle/>
          <a:p>
            <a:endParaRPr lang="en-US"/>
          </a:p>
        </p:txBody>
      </p:sp>
      <p:sp>
        <p:nvSpPr>
          <p:cNvPr id="5" name="Slide Number Placeholder 4"/>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grpSp>
        <p:nvGrpSpPr>
          <p:cNvPr id="7" name="Group 6">
            <a:extLst>
              <a:ext uri="{FF2B5EF4-FFF2-40B4-BE49-F238E27FC236}">
                <a16:creationId xmlns:a16="http://schemas.microsoft.com/office/drawing/2014/main" id="{4354ADBD-255C-5946-B2EA-04676DC8C18D}"/>
              </a:ext>
            </a:extLst>
          </p:cNvPr>
          <p:cNvGrpSpPr/>
          <p:nvPr userDrawn="1"/>
        </p:nvGrpSpPr>
        <p:grpSpPr>
          <a:xfrm>
            <a:off x="0" y="6155172"/>
            <a:ext cx="12192000" cy="702828"/>
            <a:chOff x="0" y="0"/>
            <a:chExt cx="12192000" cy="702828"/>
          </a:xfrm>
        </p:grpSpPr>
        <p:sp>
          <p:nvSpPr>
            <p:cNvPr id="8" name="Rectangle 7">
              <a:extLst>
                <a:ext uri="{FF2B5EF4-FFF2-40B4-BE49-F238E27FC236}">
                  <a16:creationId xmlns:a16="http://schemas.microsoft.com/office/drawing/2014/main" id="{A6C1C328-0AFB-0140-3346-C69D053E33EB}"/>
                </a:ext>
              </a:extLst>
            </p:cNvPr>
            <p:cNvSpPr/>
            <p:nvPr/>
          </p:nvSpPr>
          <p:spPr>
            <a:xfrm>
              <a:off x="0" y="0"/>
              <a:ext cx="12192000" cy="702828"/>
            </a:xfrm>
            <a:prstGeom prst="rect">
              <a:avLst/>
            </a:prstGeom>
            <a:solidFill>
              <a:srgbClr val="1721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2CA9B43-263C-09C6-7424-EDE235CB7C02}"/>
                </a:ext>
              </a:extLst>
            </p:cNvPr>
            <p:cNvPicPr>
              <a:picLocks noChangeAspect="1"/>
            </p:cNvPicPr>
            <p:nvPr/>
          </p:nvPicPr>
          <p:blipFill>
            <a:blip r:embed="rId3"/>
            <a:stretch>
              <a:fillRect/>
            </a:stretch>
          </p:blipFill>
          <p:spPr>
            <a:xfrm>
              <a:off x="9070107" y="0"/>
              <a:ext cx="3063569" cy="701639"/>
            </a:xfrm>
            <a:prstGeom prst="rect">
              <a:avLst/>
            </a:prstGeom>
          </p:spPr>
        </p:pic>
      </p:grpSp>
    </p:spTree>
    <p:extLst>
      <p:ext uri="{BB962C8B-B14F-4D97-AF65-F5344CB8AC3E}">
        <p14:creationId xmlns:p14="http://schemas.microsoft.com/office/powerpoint/2010/main" val="2796439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3" name="Footer Placeholder 2"/>
          <p:cNvSpPr>
            <a:spLocks noGrp="1"/>
          </p:cNvSpPr>
          <p:nvPr>
            <p:ph type="ftr" sz="quarter" idx="11"/>
          </p:nvPr>
        </p:nvSpPr>
        <p:spPr>
          <a:xfrm>
            <a:off x="685800" y="5870575"/>
            <a:ext cx="7827659" cy="377825"/>
          </a:xfrm>
          <a:prstGeom prst="rect">
            <a:avLst/>
          </a:prstGeom>
        </p:spPr>
        <p:txBody>
          <a:bodyPr/>
          <a:lstStyle/>
          <a:p>
            <a:endParaRPr lang="en-US"/>
          </a:p>
        </p:txBody>
      </p:sp>
      <p:sp>
        <p:nvSpPr>
          <p:cNvPr id="4" name="Slide Number Placeholder 3"/>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grpSp>
        <p:nvGrpSpPr>
          <p:cNvPr id="6" name="Group 5">
            <a:extLst>
              <a:ext uri="{FF2B5EF4-FFF2-40B4-BE49-F238E27FC236}">
                <a16:creationId xmlns:a16="http://schemas.microsoft.com/office/drawing/2014/main" id="{AAF9C11F-968B-31EB-5E3D-DEB48143EE28}"/>
              </a:ext>
            </a:extLst>
          </p:cNvPr>
          <p:cNvGrpSpPr/>
          <p:nvPr userDrawn="1"/>
        </p:nvGrpSpPr>
        <p:grpSpPr>
          <a:xfrm>
            <a:off x="0" y="6155172"/>
            <a:ext cx="12192000" cy="702828"/>
            <a:chOff x="0" y="0"/>
            <a:chExt cx="12192000" cy="702828"/>
          </a:xfrm>
        </p:grpSpPr>
        <p:sp>
          <p:nvSpPr>
            <p:cNvPr id="7" name="Rectangle 6">
              <a:extLst>
                <a:ext uri="{FF2B5EF4-FFF2-40B4-BE49-F238E27FC236}">
                  <a16:creationId xmlns:a16="http://schemas.microsoft.com/office/drawing/2014/main" id="{18C92E20-94BC-88E2-5E1F-6656A322ECE2}"/>
                </a:ext>
              </a:extLst>
            </p:cNvPr>
            <p:cNvSpPr/>
            <p:nvPr/>
          </p:nvSpPr>
          <p:spPr>
            <a:xfrm>
              <a:off x="0" y="0"/>
              <a:ext cx="12192000" cy="702828"/>
            </a:xfrm>
            <a:prstGeom prst="rect">
              <a:avLst/>
            </a:prstGeom>
            <a:solidFill>
              <a:srgbClr val="1721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7A3CD6A-1A46-7477-ADEA-908992D74E01}"/>
                </a:ext>
              </a:extLst>
            </p:cNvPr>
            <p:cNvPicPr>
              <a:picLocks noChangeAspect="1"/>
            </p:cNvPicPr>
            <p:nvPr/>
          </p:nvPicPr>
          <p:blipFill>
            <a:blip r:embed="rId3"/>
            <a:stretch>
              <a:fillRect/>
            </a:stretch>
          </p:blipFill>
          <p:spPr>
            <a:xfrm>
              <a:off x="9070107" y="0"/>
              <a:ext cx="3063569" cy="701639"/>
            </a:xfrm>
            <a:prstGeom prst="rect">
              <a:avLst/>
            </a:prstGeom>
          </p:spPr>
        </p:pic>
      </p:grpSp>
    </p:spTree>
    <p:extLst>
      <p:ext uri="{BB962C8B-B14F-4D97-AF65-F5344CB8AC3E}">
        <p14:creationId xmlns:p14="http://schemas.microsoft.com/office/powerpoint/2010/main" val="1656610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a:prstGeom prst="rect">
            <a:avLst/>
          </a:prstGeo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a:prstGeom prst="rect">
            <a:avLst/>
          </a:prstGeo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6" name="Footer Placeholder 5"/>
          <p:cNvSpPr>
            <a:spLocks noGrp="1"/>
          </p:cNvSpPr>
          <p:nvPr>
            <p:ph type="ftr" sz="quarter" idx="11"/>
          </p:nvPr>
        </p:nvSpPr>
        <p:spPr>
          <a:xfrm>
            <a:off x="685800" y="5870575"/>
            <a:ext cx="7827659" cy="377825"/>
          </a:xfrm>
          <a:prstGeom prst="rect">
            <a:avLst/>
          </a:prstGeom>
        </p:spPr>
        <p:txBody>
          <a:bodyPr/>
          <a:lstStyle/>
          <a:p>
            <a:endParaRPr lang="en-US"/>
          </a:p>
        </p:txBody>
      </p:sp>
      <p:sp>
        <p:nvSpPr>
          <p:cNvPr id="7" name="Slide Number Placeholder 6"/>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587237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a:prstGeom prst="rect">
            <a:avLst/>
          </a:prstGeo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a:prstGeom prst="rect">
            <a:avLst/>
          </a:prstGeo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6" name="Footer Placeholder 5"/>
          <p:cNvSpPr>
            <a:spLocks noGrp="1"/>
          </p:cNvSpPr>
          <p:nvPr>
            <p:ph type="ftr" sz="quarter" idx="11"/>
          </p:nvPr>
        </p:nvSpPr>
        <p:spPr>
          <a:xfrm>
            <a:off x="685800" y="5870575"/>
            <a:ext cx="7827659" cy="377825"/>
          </a:xfrm>
          <a:prstGeom prst="rect">
            <a:avLst/>
          </a:prstGeom>
        </p:spPr>
        <p:txBody>
          <a:bodyPr/>
          <a:lstStyle/>
          <a:p>
            <a:endParaRPr lang="en-US"/>
          </a:p>
        </p:txBody>
      </p:sp>
      <p:sp>
        <p:nvSpPr>
          <p:cNvPr id="7" name="Slide Number Placeholder 6"/>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068776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6" name="Footer Placeholder 5"/>
          <p:cNvSpPr>
            <a:spLocks noGrp="1"/>
          </p:cNvSpPr>
          <p:nvPr>
            <p:ph type="ftr" sz="quarter" idx="11"/>
          </p:nvPr>
        </p:nvSpPr>
        <p:spPr>
          <a:xfrm>
            <a:off x="685800" y="5870575"/>
            <a:ext cx="7827659" cy="377825"/>
          </a:xfrm>
          <a:prstGeom prst="rect">
            <a:avLst/>
          </a:prstGeom>
        </p:spPr>
        <p:txBody>
          <a:bodyPr/>
          <a:lstStyle/>
          <a:p>
            <a:endParaRPr lang="en-US"/>
          </a:p>
        </p:txBody>
      </p:sp>
      <p:sp>
        <p:nvSpPr>
          <p:cNvPr id="7" name="Slide Number Placeholder 6"/>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3283693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a:prstGeom prst="rect">
            <a:avLst/>
          </a:prstGeo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a:prstGeom prst="rect">
            <a:avLst/>
          </a:prstGeo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35950023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a:prstGeom prst="rect">
            <a:avLst/>
          </a:prstGeo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a:prstGeom prst="rect">
            <a:avLst/>
          </a:prstGeo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a:prstGeom prst="rect">
            <a:avLst/>
          </a:prstGeo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2832734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a:prstGeom prst="rect">
            <a:avLst/>
          </a:prstGeo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a:prstGeom prst="rect">
            <a:avLst/>
          </a:prstGeo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905358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a:prstGeom prst="rect">
            <a:avLst/>
          </a:prstGeo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a:prstGeom prst="rect">
            <a:avLst/>
          </a:prstGeo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a:prstGeom prst="rect">
            <a:avLst/>
          </a:prstGeo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699168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a:prstGeom prst="rect">
            <a:avLst/>
          </a:prstGeo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a:prstGeom prst="rect">
            <a:avLst/>
          </a:prstGeo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a:prstGeom prst="rect">
            <a:avLst/>
          </a:prstGeo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024202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a:xfrm>
            <a:off x="685801" y="2142067"/>
            <a:ext cx="10131425" cy="3649133"/>
          </a:xfrm>
          <a:prstGeom prst="rect">
            <a:avLst/>
          </a:prstGeo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
        <p:nvSpPr>
          <p:cNvPr id="8" name="Title 1"/>
          <p:cNvSpPr>
            <a:spLocks noGrp="1"/>
          </p:cNvSpPr>
          <p:nvPr>
            <p:ph type="title"/>
          </p:nvPr>
        </p:nvSpPr>
        <p:spPr>
          <a:xfrm>
            <a:off x="685801" y="609600"/>
            <a:ext cx="10131425" cy="1456267"/>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31248844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a:prstGeom prst="rect">
            <a:avLst/>
          </a:prstGeo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589660" y="5870575"/>
            <a:ext cx="1600200" cy="377825"/>
          </a:xfrm>
          <a:prstGeom prst="rect">
            <a:avLst/>
          </a:prstGeom>
        </p:spPr>
        <p:txBody>
          <a:bodyPr/>
          <a:lstStyle/>
          <a:p>
            <a:fld id="{D6BE4793-EB6E-4246-9E7B-350CE75312EA}" type="datetimeFigureOut">
              <a:rPr lang="en-US" smtClean="0"/>
              <a:t>12/8/2025</a:t>
            </a:fld>
            <a:endParaRPr lang="en-US"/>
          </a:p>
        </p:txBody>
      </p:sp>
      <p:sp>
        <p:nvSpPr>
          <p:cNvPr id="5" name="Footer Placeholder 4"/>
          <p:cNvSpPr>
            <a:spLocks noGrp="1"/>
          </p:cNvSpPr>
          <p:nvPr>
            <p:ph type="ftr" sz="quarter" idx="11"/>
          </p:nvPr>
        </p:nvSpPr>
        <p:spPr>
          <a:xfrm>
            <a:off x="685800" y="5870575"/>
            <a:ext cx="7827659" cy="377825"/>
          </a:xfrm>
          <a:prstGeom prst="rect">
            <a:avLst/>
          </a:prstGeom>
        </p:spPr>
        <p:txBody>
          <a:bodyPr/>
          <a:lstStyle/>
          <a:p>
            <a:endParaRPr lang="en-US"/>
          </a:p>
        </p:txBody>
      </p:sp>
      <p:sp>
        <p:nvSpPr>
          <p:cNvPr id="6" name="Slide Number Placeholder 5"/>
          <p:cNvSpPr>
            <a:spLocks noGrp="1"/>
          </p:cNvSpPr>
          <p:nvPr>
            <p:ph type="sldNum" sz="quarter" idx="12"/>
          </p:nvPr>
        </p:nvSpPr>
        <p:spPr>
          <a:xfrm>
            <a:off x="10266060" y="5870575"/>
            <a:ext cx="551167" cy="377825"/>
          </a:xfrm>
          <a:prstGeom prst="rect">
            <a:avLst/>
          </a:prstGeom>
        </p:spPr>
        <p:txBody>
          <a:bodyPr/>
          <a:lstStyle/>
          <a:p>
            <a:fld id="{CCFCD7B9-2810-495F-B462-34C7E670CE5F}" type="slidenum">
              <a:rPr lang="en-US" smtClean="0"/>
              <a:t>‹#›</a:t>
            </a:fld>
            <a:endParaRPr lang="en-US"/>
          </a:p>
        </p:txBody>
      </p:sp>
    </p:spTree>
    <p:extLst>
      <p:ext uri="{BB962C8B-B14F-4D97-AF65-F5344CB8AC3E}">
        <p14:creationId xmlns:p14="http://schemas.microsoft.com/office/powerpoint/2010/main" val="1901673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1A20A-DD7F-BBC2-A375-BB32E91E29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9558B2-685C-7FC7-D322-2372F2C183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01EE92-442A-6EE5-0ACD-18018CE95726}"/>
              </a:ext>
            </a:extLst>
          </p:cNvPr>
          <p:cNvSpPr>
            <a:spLocks noGrp="1"/>
          </p:cNvSpPr>
          <p:nvPr>
            <p:ph type="dt" sz="half" idx="10"/>
          </p:nvPr>
        </p:nvSpPr>
        <p:spPr/>
        <p:txBody>
          <a:bodyPr/>
          <a:lstStyle/>
          <a:p>
            <a:fld id="{5576DD97-36ED-4148-BB6C-15581984C544}" type="datetimeFigureOut">
              <a:rPr lang="en-US" smtClean="0"/>
              <a:t>12/8/2025</a:t>
            </a:fld>
            <a:endParaRPr lang="en-US"/>
          </a:p>
        </p:txBody>
      </p:sp>
      <p:sp>
        <p:nvSpPr>
          <p:cNvPr id="5" name="Footer Placeholder 4">
            <a:extLst>
              <a:ext uri="{FF2B5EF4-FFF2-40B4-BE49-F238E27FC236}">
                <a16:creationId xmlns:a16="http://schemas.microsoft.com/office/drawing/2014/main" id="{C6FBE4EA-9CBF-7833-2AD3-16B2DA9F64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27A0A-DAC6-4452-979A-66FA9D0CC401}"/>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093294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1FD9C-0CEF-C93B-03E0-EA045CFF34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67E912-E202-D41B-4088-07027514C3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138912-0451-322D-D24D-607B53A0EC30}"/>
              </a:ext>
            </a:extLst>
          </p:cNvPr>
          <p:cNvSpPr>
            <a:spLocks noGrp="1"/>
          </p:cNvSpPr>
          <p:nvPr>
            <p:ph type="dt" sz="half" idx="10"/>
          </p:nvPr>
        </p:nvSpPr>
        <p:spPr/>
        <p:txBody>
          <a:bodyPr/>
          <a:lstStyle/>
          <a:p>
            <a:fld id="{5576DD97-36ED-4148-BB6C-15581984C544}" type="datetimeFigureOut">
              <a:rPr lang="en-US" smtClean="0"/>
              <a:t>12/8/2025</a:t>
            </a:fld>
            <a:endParaRPr lang="en-US"/>
          </a:p>
        </p:txBody>
      </p:sp>
      <p:sp>
        <p:nvSpPr>
          <p:cNvPr id="5" name="Footer Placeholder 4">
            <a:extLst>
              <a:ext uri="{FF2B5EF4-FFF2-40B4-BE49-F238E27FC236}">
                <a16:creationId xmlns:a16="http://schemas.microsoft.com/office/drawing/2014/main" id="{80A9175C-C2BB-DD79-29C7-C41FDD07E7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561EF2-4372-1ACB-8C8A-E8D715FCFE11}"/>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5240190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7C9A5-BF99-2A0C-79EF-F2D9A3DC4C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02F398-84F1-DC67-B1C0-71F7A5EE2C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61B8AA-7E1E-AD61-839C-B07EDEA20B57}"/>
              </a:ext>
            </a:extLst>
          </p:cNvPr>
          <p:cNvSpPr>
            <a:spLocks noGrp="1"/>
          </p:cNvSpPr>
          <p:nvPr>
            <p:ph type="dt" sz="half" idx="10"/>
          </p:nvPr>
        </p:nvSpPr>
        <p:spPr/>
        <p:txBody>
          <a:bodyPr/>
          <a:lstStyle/>
          <a:p>
            <a:fld id="{5576DD97-36ED-4148-BB6C-15581984C544}" type="datetimeFigureOut">
              <a:rPr lang="en-US" smtClean="0"/>
              <a:t>12/8/2025</a:t>
            </a:fld>
            <a:endParaRPr lang="en-US"/>
          </a:p>
        </p:txBody>
      </p:sp>
      <p:sp>
        <p:nvSpPr>
          <p:cNvPr id="5" name="Footer Placeholder 4">
            <a:extLst>
              <a:ext uri="{FF2B5EF4-FFF2-40B4-BE49-F238E27FC236}">
                <a16:creationId xmlns:a16="http://schemas.microsoft.com/office/drawing/2014/main" id="{FC228E4B-714E-0D47-C203-ED0039DD97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8551A-5115-7B70-9369-39DBFCE06E1C}"/>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25050089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48209-5DDC-E8B7-A113-886CA181FD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7879FA-4720-682A-CDE6-8E5D3B93AF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083A93-5257-7534-8A99-F7C4D63EEF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533EE4-77A9-664B-F369-47306C41E727}"/>
              </a:ext>
            </a:extLst>
          </p:cNvPr>
          <p:cNvSpPr>
            <a:spLocks noGrp="1"/>
          </p:cNvSpPr>
          <p:nvPr>
            <p:ph type="dt" sz="half" idx="10"/>
          </p:nvPr>
        </p:nvSpPr>
        <p:spPr/>
        <p:txBody>
          <a:bodyPr/>
          <a:lstStyle/>
          <a:p>
            <a:fld id="{5576DD97-36ED-4148-BB6C-15581984C544}" type="datetimeFigureOut">
              <a:rPr lang="en-US" smtClean="0"/>
              <a:t>12/8/2025</a:t>
            </a:fld>
            <a:endParaRPr lang="en-US"/>
          </a:p>
        </p:txBody>
      </p:sp>
      <p:sp>
        <p:nvSpPr>
          <p:cNvPr id="6" name="Footer Placeholder 5">
            <a:extLst>
              <a:ext uri="{FF2B5EF4-FFF2-40B4-BE49-F238E27FC236}">
                <a16:creationId xmlns:a16="http://schemas.microsoft.com/office/drawing/2014/main" id="{89617FA0-AADE-E0F4-7AAE-81FE66F460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E0A357-BBAB-DA27-BD84-CE2FF56EB7E7}"/>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11987110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9C3E3-B19B-C6D8-8056-44CBE6D792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1EB531-46FB-8E7D-B2F3-25ED868AD8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34C671-3EA7-454A-B7F2-03D86C9DF4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BBF8CF-1BD2-9549-9F60-021DE47E13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FF0579-9CFB-6BDF-958E-FBFB267DE8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6335A7-1FA3-7BF5-E6FC-D19AAD6EDFB3}"/>
              </a:ext>
            </a:extLst>
          </p:cNvPr>
          <p:cNvSpPr>
            <a:spLocks noGrp="1"/>
          </p:cNvSpPr>
          <p:nvPr>
            <p:ph type="dt" sz="half" idx="10"/>
          </p:nvPr>
        </p:nvSpPr>
        <p:spPr/>
        <p:txBody>
          <a:bodyPr/>
          <a:lstStyle/>
          <a:p>
            <a:fld id="{5576DD97-36ED-4148-BB6C-15581984C544}" type="datetimeFigureOut">
              <a:rPr lang="en-US" smtClean="0"/>
              <a:t>12/8/2025</a:t>
            </a:fld>
            <a:endParaRPr lang="en-US"/>
          </a:p>
        </p:txBody>
      </p:sp>
      <p:sp>
        <p:nvSpPr>
          <p:cNvPr id="8" name="Footer Placeholder 7">
            <a:extLst>
              <a:ext uri="{FF2B5EF4-FFF2-40B4-BE49-F238E27FC236}">
                <a16:creationId xmlns:a16="http://schemas.microsoft.com/office/drawing/2014/main" id="{51664EC9-F601-55A7-D97E-811287A18A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84C84D-2259-E077-19BF-2CFAA9A09B7E}"/>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849643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89231-C87D-0CB0-3ED9-A281552F95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1D29E1-610D-8854-BDBA-4B04CFC6DA16}"/>
              </a:ext>
            </a:extLst>
          </p:cNvPr>
          <p:cNvSpPr>
            <a:spLocks noGrp="1"/>
          </p:cNvSpPr>
          <p:nvPr>
            <p:ph type="dt" sz="half" idx="10"/>
          </p:nvPr>
        </p:nvSpPr>
        <p:spPr/>
        <p:txBody>
          <a:bodyPr/>
          <a:lstStyle/>
          <a:p>
            <a:fld id="{5576DD97-36ED-4148-BB6C-15581984C544}" type="datetimeFigureOut">
              <a:rPr lang="en-US" smtClean="0"/>
              <a:t>12/8/2025</a:t>
            </a:fld>
            <a:endParaRPr lang="en-US"/>
          </a:p>
        </p:txBody>
      </p:sp>
      <p:sp>
        <p:nvSpPr>
          <p:cNvPr id="4" name="Footer Placeholder 3">
            <a:extLst>
              <a:ext uri="{FF2B5EF4-FFF2-40B4-BE49-F238E27FC236}">
                <a16:creationId xmlns:a16="http://schemas.microsoft.com/office/drawing/2014/main" id="{DED9982E-0E65-666E-3CC4-D40B976C88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199174-9288-5AAC-357A-AC87CB6692D0}"/>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3866896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3AEA3F-8E2B-D9C0-0B9E-4232FB64A3C3}"/>
              </a:ext>
            </a:extLst>
          </p:cNvPr>
          <p:cNvSpPr>
            <a:spLocks noGrp="1"/>
          </p:cNvSpPr>
          <p:nvPr>
            <p:ph type="dt" sz="half" idx="10"/>
          </p:nvPr>
        </p:nvSpPr>
        <p:spPr/>
        <p:txBody>
          <a:bodyPr/>
          <a:lstStyle/>
          <a:p>
            <a:fld id="{5576DD97-36ED-4148-BB6C-15581984C544}" type="datetimeFigureOut">
              <a:rPr lang="en-US" smtClean="0"/>
              <a:t>12/8/2025</a:t>
            </a:fld>
            <a:endParaRPr lang="en-US"/>
          </a:p>
        </p:txBody>
      </p:sp>
      <p:sp>
        <p:nvSpPr>
          <p:cNvPr id="3" name="Footer Placeholder 2">
            <a:extLst>
              <a:ext uri="{FF2B5EF4-FFF2-40B4-BE49-F238E27FC236}">
                <a16:creationId xmlns:a16="http://schemas.microsoft.com/office/drawing/2014/main" id="{B1535B25-0D50-D85E-492C-86FF128075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C224B7-C85A-D5AB-ADB9-F4A75E406733}"/>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0174414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CBF69-3F62-FD8F-854E-9E2E272FBE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5D907E-D9EE-BD63-D6F5-ED6C2753D8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16EF68-5181-77CD-8EF4-B84DB3586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D1B687-9746-F6AD-3CD3-C74C6B0B7F6B}"/>
              </a:ext>
            </a:extLst>
          </p:cNvPr>
          <p:cNvSpPr>
            <a:spLocks noGrp="1"/>
          </p:cNvSpPr>
          <p:nvPr>
            <p:ph type="dt" sz="half" idx="10"/>
          </p:nvPr>
        </p:nvSpPr>
        <p:spPr/>
        <p:txBody>
          <a:bodyPr/>
          <a:lstStyle/>
          <a:p>
            <a:fld id="{5576DD97-36ED-4148-BB6C-15581984C544}" type="datetimeFigureOut">
              <a:rPr lang="en-US" smtClean="0"/>
              <a:t>12/8/2025</a:t>
            </a:fld>
            <a:endParaRPr lang="en-US"/>
          </a:p>
        </p:txBody>
      </p:sp>
      <p:sp>
        <p:nvSpPr>
          <p:cNvPr id="6" name="Footer Placeholder 5">
            <a:extLst>
              <a:ext uri="{FF2B5EF4-FFF2-40B4-BE49-F238E27FC236}">
                <a16:creationId xmlns:a16="http://schemas.microsoft.com/office/drawing/2014/main" id="{56FFE274-2D00-6106-B111-4B90C0E01A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EA39C8-91EB-F9FB-0A37-8BB6AB87D42A}"/>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382613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398D5-4289-5BA0-B87F-BAF191E681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3BAA1A-C0AB-6BFD-8761-201F6820F5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6423C0-23CA-3FFD-AAE0-19A8BAD3C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61A22-F1C4-D0AD-82C8-8DD1C493118B}"/>
              </a:ext>
            </a:extLst>
          </p:cNvPr>
          <p:cNvSpPr>
            <a:spLocks noGrp="1"/>
          </p:cNvSpPr>
          <p:nvPr>
            <p:ph type="dt" sz="half" idx="10"/>
          </p:nvPr>
        </p:nvSpPr>
        <p:spPr/>
        <p:txBody>
          <a:bodyPr/>
          <a:lstStyle/>
          <a:p>
            <a:fld id="{5576DD97-36ED-4148-BB6C-15581984C544}" type="datetimeFigureOut">
              <a:rPr lang="en-US" smtClean="0"/>
              <a:t>12/8/2025</a:t>
            </a:fld>
            <a:endParaRPr lang="en-US"/>
          </a:p>
        </p:txBody>
      </p:sp>
      <p:sp>
        <p:nvSpPr>
          <p:cNvPr id="6" name="Footer Placeholder 5">
            <a:extLst>
              <a:ext uri="{FF2B5EF4-FFF2-40B4-BE49-F238E27FC236}">
                <a16:creationId xmlns:a16="http://schemas.microsoft.com/office/drawing/2014/main" id="{3D4151EA-EEC8-C82B-31C5-4EBF8CA1FF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E6F536-EC06-F513-8682-BB99A28910DA}"/>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29850369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953B6-2A39-656C-6F3A-3D899B3C443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D10E8E-8E59-CC8E-5BA9-0CE28CC1D7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155538-BC28-CE4D-B42F-F0E4D344F592}"/>
              </a:ext>
            </a:extLst>
          </p:cNvPr>
          <p:cNvSpPr>
            <a:spLocks noGrp="1"/>
          </p:cNvSpPr>
          <p:nvPr>
            <p:ph type="dt" sz="half" idx="10"/>
          </p:nvPr>
        </p:nvSpPr>
        <p:spPr/>
        <p:txBody>
          <a:bodyPr/>
          <a:lstStyle/>
          <a:p>
            <a:fld id="{5576DD97-36ED-4148-BB6C-15581984C544}" type="datetimeFigureOut">
              <a:rPr lang="en-US" smtClean="0"/>
              <a:t>12/8/2025</a:t>
            </a:fld>
            <a:endParaRPr lang="en-US"/>
          </a:p>
        </p:txBody>
      </p:sp>
      <p:sp>
        <p:nvSpPr>
          <p:cNvPr id="5" name="Footer Placeholder 4">
            <a:extLst>
              <a:ext uri="{FF2B5EF4-FFF2-40B4-BE49-F238E27FC236}">
                <a16:creationId xmlns:a16="http://schemas.microsoft.com/office/drawing/2014/main" id="{0EBEAEC5-425D-C640-B069-1C63426DB9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25F807-95DB-52DE-95AA-50E59EA96E8B}"/>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13395975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A8195B-FF3D-F10A-1AFA-5715EB12ED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4B57FB-64ED-0EEE-5D74-C6133F14FD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CC67F0-C3C3-C704-1219-2C1E3790A8F8}"/>
              </a:ext>
            </a:extLst>
          </p:cNvPr>
          <p:cNvSpPr>
            <a:spLocks noGrp="1"/>
          </p:cNvSpPr>
          <p:nvPr>
            <p:ph type="dt" sz="half" idx="10"/>
          </p:nvPr>
        </p:nvSpPr>
        <p:spPr/>
        <p:txBody>
          <a:bodyPr/>
          <a:lstStyle/>
          <a:p>
            <a:fld id="{5576DD97-36ED-4148-BB6C-15581984C544}" type="datetimeFigureOut">
              <a:rPr lang="en-US" smtClean="0"/>
              <a:t>12/8/2025</a:t>
            </a:fld>
            <a:endParaRPr lang="en-US"/>
          </a:p>
        </p:txBody>
      </p:sp>
      <p:sp>
        <p:nvSpPr>
          <p:cNvPr id="5" name="Footer Placeholder 4">
            <a:extLst>
              <a:ext uri="{FF2B5EF4-FFF2-40B4-BE49-F238E27FC236}">
                <a16:creationId xmlns:a16="http://schemas.microsoft.com/office/drawing/2014/main" id="{9D1D8434-DEE8-60E0-2842-90CC6B453F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EE0910-A523-6967-90EE-5F4D0BFD80A6}"/>
              </a:ext>
            </a:extLst>
          </p:cNvPr>
          <p:cNvSpPr>
            <a:spLocks noGrp="1"/>
          </p:cNvSpPr>
          <p:nvPr>
            <p:ph type="sldNum" sz="quarter" idx="12"/>
          </p:nvPr>
        </p:nvSpPr>
        <p:spPr/>
        <p:txBody>
          <a:bodyPr/>
          <a:lstStyle/>
          <a:p>
            <a:fld id="{5D5A248E-1216-4791-A51C-7DA3F8185B49}" type="slidenum">
              <a:rPr lang="en-US" smtClean="0"/>
              <a:t>‹#›</a:t>
            </a:fld>
            <a:endParaRPr lang="en-US"/>
          </a:p>
        </p:txBody>
      </p:sp>
    </p:spTree>
    <p:extLst>
      <p:ext uri="{BB962C8B-B14F-4D97-AF65-F5344CB8AC3E}">
        <p14:creationId xmlns:p14="http://schemas.microsoft.com/office/powerpoint/2010/main" val="5891365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3.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image" Target="../media/image1.png"/><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4.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7212B"/>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CD234F-F397-8CB0-FA55-A51DEE8702CE}"/>
              </a:ext>
            </a:extLst>
          </p:cNvPr>
          <p:cNvPicPr>
            <a:picLocks noChangeAspect="1"/>
          </p:cNvPicPr>
          <p:nvPr userDrawn="1"/>
        </p:nvPicPr>
        <p:blipFill rotWithShape="1">
          <a:blip r:embed="rId2"/>
          <a:srcRect l="-1" t="2770" r="-12030" b="2898"/>
          <a:stretch/>
        </p:blipFill>
        <p:spPr>
          <a:xfrm>
            <a:off x="888800" y="1182255"/>
            <a:ext cx="11303199" cy="2179781"/>
          </a:xfrm>
          <a:prstGeom prst="rect">
            <a:avLst/>
          </a:prstGeom>
        </p:spPr>
      </p:pic>
      <p:sp>
        <p:nvSpPr>
          <p:cNvPr id="5" name="TextBox 4">
            <a:extLst>
              <a:ext uri="{FF2B5EF4-FFF2-40B4-BE49-F238E27FC236}">
                <a16:creationId xmlns:a16="http://schemas.microsoft.com/office/drawing/2014/main" id="{6F3D806B-1260-F639-019B-D4AB5EF7B417}"/>
              </a:ext>
            </a:extLst>
          </p:cNvPr>
          <p:cNvSpPr txBox="1"/>
          <p:nvPr userDrawn="1"/>
        </p:nvSpPr>
        <p:spPr>
          <a:xfrm>
            <a:off x="369454" y="4488873"/>
            <a:ext cx="11453091" cy="400110"/>
          </a:xfrm>
          <a:prstGeom prst="rect">
            <a:avLst/>
          </a:prstGeom>
          <a:noFill/>
        </p:spPr>
        <p:txBody>
          <a:bodyPr wrap="square" rtlCol="0">
            <a:spAutoFit/>
          </a:bodyPr>
          <a:lstStyle/>
          <a:p>
            <a:pPr algn="ctr"/>
            <a:r>
              <a:rPr lang="en-US" sz="2000" dirty="0">
                <a:solidFill>
                  <a:srgbClr val="9D7B4C"/>
                </a:solidFill>
                <a:latin typeface="Audiowide" panose="02000503000000020004" pitchFamily="2" charset="0"/>
              </a:rPr>
              <a:t>MONEY IS TIME, WEALTH IS KNOWLEDGE, INFORMATION IS SURPRISE</a:t>
            </a:r>
          </a:p>
        </p:txBody>
      </p:sp>
      <p:pic>
        <p:nvPicPr>
          <p:cNvPr id="6" name="Picture 5" descr="Celestia-R1---OverlayTitleHD.png">
            <a:extLst>
              <a:ext uri="{FF2B5EF4-FFF2-40B4-BE49-F238E27FC236}">
                <a16:creationId xmlns:a16="http://schemas.microsoft.com/office/drawing/2014/main" id="{3C2B1AA0-3440-30F3-C2BE-DE2763DB5CEB}"/>
              </a:ext>
            </a:extLst>
          </p:cNvPr>
          <p:cNvPicPr>
            <a:picLocks noChangeAspect="1"/>
          </p:cNvPicPr>
          <p:nvPr userDrawn="1"/>
        </p:nvPicPr>
        <p:blipFill>
          <a:blip r:embed="rId3">
            <a:alphaModFix amt="5200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Tree>
    <p:extLst>
      <p:ext uri="{BB962C8B-B14F-4D97-AF65-F5344CB8AC3E}">
        <p14:creationId xmlns:p14="http://schemas.microsoft.com/office/powerpoint/2010/main" val="3916039756"/>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17212B"/>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CD234F-F397-8CB0-FA55-A51DEE8702CE}"/>
              </a:ext>
            </a:extLst>
          </p:cNvPr>
          <p:cNvPicPr>
            <a:picLocks noChangeAspect="1"/>
          </p:cNvPicPr>
          <p:nvPr userDrawn="1"/>
        </p:nvPicPr>
        <p:blipFill rotWithShape="1">
          <a:blip r:embed="rId3"/>
          <a:srcRect l="-1" t="2770" r="-12030" b="2898"/>
          <a:stretch/>
        </p:blipFill>
        <p:spPr>
          <a:xfrm>
            <a:off x="888800" y="1182255"/>
            <a:ext cx="11303199" cy="2179781"/>
          </a:xfrm>
          <a:prstGeom prst="rect">
            <a:avLst/>
          </a:prstGeom>
        </p:spPr>
      </p:pic>
      <p:sp>
        <p:nvSpPr>
          <p:cNvPr id="5" name="TextBox 4">
            <a:extLst>
              <a:ext uri="{FF2B5EF4-FFF2-40B4-BE49-F238E27FC236}">
                <a16:creationId xmlns:a16="http://schemas.microsoft.com/office/drawing/2014/main" id="{6F3D806B-1260-F639-019B-D4AB5EF7B417}"/>
              </a:ext>
            </a:extLst>
          </p:cNvPr>
          <p:cNvSpPr txBox="1"/>
          <p:nvPr userDrawn="1"/>
        </p:nvSpPr>
        <p:spPr>
          <a:xfrm>
            <a:off x="369454" y="4488873"/>
            <a:ext cx="11453091" cy="400110"/>
          </a:xfrm>
          <a:prstGeom prst="rect">
            <a:avLst/>
          </a:prstGeom>
          <a:noFill/>
        </p:spPr>
        <p:txBody>
          <a:bodyPr wrap="square" rtlCol="0">
            <a:spAutoFit/>
          </a:bodyPr>
          <a:lstStyle/>
          <a:p>
            <a:pPr algn="ctr"/>
            <a:r>
              <a:rPr lang="en-US" sz="2000" dirty="0">
                <a:solidFill>
                  <a:srgbClr val="9D7B4C"/>
                </a:solidFill>
                <a:latin typeface="Audiowide" panose="02000503000000020004" pitchFamily="2" charset="0"/>
              </a:rPr>
              <a:t>MONEY IS TIME, WEALTH IS KNOWLEDGE, INFORMATION IS SURPRISE</a:t>
            </a:r>
          </a:p>
        </p:txBody>
      </p:sp>
      <p:pic>
        <p:nvPicPr>
          <p:cNvPr id="6" name="Picture 5">
            <a:extLst>
              <a:ext uri="{FF2B5EF4-FFF2-40B4-BE49-F238E27FC236}">
                <a16:creationId xmlns:a16="http://schemas.microsoft.com/office/drawing/2014/main" id="{3C2B1AA0-3440-30F3-C2BE-DE2763DB5CEB}"/>
              </a:ext>
            </a:extLst>
          </p:cNvPr>
          <p:cNvPicPr>
            <a:picLocks noChangeAspect="1"/>
          </p:cNvPicPr>
          <p:nvPr userDrawn="1"/>
        </p:nvPicPr>
        <p:blipFill rotWithShape="1">
          <a:blip r:embed="rId4">
            <a:alphaModFix amt="22000"/>
            <a:extLst>
              <a:ext uri="{28A0092B-C50C-407E-A947-70E740481C1C}">
                <a14:useLocalDpi xmlns:a14="http://schemas.microsoft.com/office/drawing/2010/main" val="0"/>
              </a:ext>
            </a:extLst>
          </a:blip>
          <a:srcRect t="2515" b="624"/>
          <a:stretch/>
        </p:blipFill>
        <p:spPr>
          <a:xfrm>
            <a:off x="157019" y="701965"/>
            <a:ext cx="11453090" cy="6858000"/>
          </a:xfrm>
          <a:prstGeom prst="rect">
            <a:avLst/>
          </a:prstGeom>
        </p:spPr>
      </p:pic>
    </p:spTree>
    <p:extLst>
      <p:ext uri="{BB962C8B-B14F-4D97-AF65-F5344CB8AC3E}">
        <p14:creationId xmlns:p14="http://schemas.microsoft.com/office/powerpoint/2010/main" val="2419635179"/>
      </p:ext>
    </p:extLst>
  </p:cSld>
  <p:clrMap bg1="lt1" tx1="dk1" bg2="lt2" tx2="dk2" accent1="accent1" accent2="accent2" accent3="accent3" accent4="accent4" accent5="accent5" accent6="accent6" hlink="hlink" folHlink="folHlink"/>
  <p:sldLayoutIdLst>
    <p:sldLayoutId id="214748370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8">
            <a:extLst>
              <a:ext uri="{FF2B5EF4-FFF2-40B4-BE49-F238E27FC236}">
                <a16:creationId xmlns:a16="http://schemas.microsoft.com/office/drawing/2014/main" id="{280CA61C-D749-4593-4C8C-F0D9FBC53FB5}"/>
              </a:ext>
            </a:extLst>
          </p:cNvPr>
          <p:cNvGrpSpPr/>
          <p:nvPr userDrawn="1"/>
        </p:nvGrpSpPr>
        <p:grpSpPr>
          <a:xfrm>
            <a:off x="0" y="6155172"/>
            <a:ext cx="12192000" cy="702828"/>
            <a:chOff x="0" y="0"/>
            <a:chExt cx="12192000" cy="702828"/>
          </a:xfrm>
        </p:grpSpPr>
        <p:sp>
          <p:nvSpPr>
            <p:cNvPr id="10" name="Rectangle 9">
              <a:extLst>
                <a:ext uri="{FF2B5EF4-FFF2-40B4-BE49-F238E27FC236}">
                  <a16:creationId xmlns:a16="http://schemas.microsoft.com/office/drawing/2014/main" id="{59715DB6-D071-4AE7-078F-BDCD7F9051B8}"/>
                </a:ext>
              </a:extLst>
            </p:cNvPr>
            <p:cNvSpPr/>
            <p:nvPr/>
          </p:nvSpPr>
          <p:spPr>
            <a:xfrm>
              <a:off x="0" y="0"/>
              <a:ext cx="12192000" cy="702828"/>
            </a:xfrm>
            <a:prstGeom prst="rect">
              <a:avLst/>
            </a:prstGeom>
            <a:solidFill>
              <a:srgbClr val="1721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E49E6611-2CA7-D2A3-C67B-83B6587BE2C8}"/>
                </a:ext>
              </a:extLst>
            </p:cNvPr>
            <p:cNvPicPr>
              <a:picLocks noChangeAspect="1"/>
            </p:cNvPicPr>
            <p:nvPr/>
          </p:nvPicPr>
          <p:blipFill>
            <a:blip r:embed="rId19"/>
            <a:stretch>
              <a:fillRect/>
            </a:stretch>
          </p:blipFill>
          <p:spPr>
            <a:xfrm>
              <a:off x="9070107" y="0"/>
              <a:ext cx="3063569" cy="701639"/>
            </a:xfrm>
            <a:prstGeom prst="rect">
              <a:avLst/>
            </a:prstGeom>
            <a:ln>
              <a:noFill/>
            </a:ln>
          </p:spPr>
        </p:pic>
      </p:grpSp>
    </p:spTree>
    <p:extLst>
      <p:ext uri="{BB962C8B-B14F-4D97-AF65-F5344CB8AC3E}">
        <p14:creationId xmlns:p14="http://schemas.microsoft.com/office/powerpoint/2010/main" val="29259712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AF46C6-1E31-69DF-400C-41672A8B4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4A9753-0AFC-ADC9-2F49-1CECFE0E93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671831-94A8-8457-E38E-5F49289AB0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76DD97-36ED-4148-BB6C-15581984C544}" type="datetimeFigureOut">
              <a:rPr lang="en-US" smtClean="0"/>
              <a:t>12/8/2025</a:t>
            </a:fld>
            <a:endParaRPr lang="en-US"/>
          </a:p>
        </p:txBody>
      </p:sp>
      <p:sp>
        <p:nvSpPr>
          <p:cNvPr id="5" name="Footer Placeholder 4">
            <a:extLst>
              <a:ext uri="{FF2B5EF4-FFF2-40B4-BE49-F238E27FC236}">
                <a16:creationId xmlns:a16="http://schemas.microsoft.com/office/drawing/2014/main" id="{11E5DED8-C5D9-0FFD-738F-BCF1A7FF84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7D2799C-8A8B-7931-D959-AB1D3264AE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5A248E-1216-4791-A51C-7DA3F8185B49}" type="slidenum">
              <a:rPr lang="en-US" smtClean="0"/>
              <a:t>‹#›</a:t>
            </a:fld>
            <a:endParaRPr lang="en-US"/>
          </a:p>
        </p:txBody>
      </p:sp>
    </p:spTree>
    <p:extLst>
      <p:ext uri="{BB962C8B-B14F-4D97-AF65-F5344CB8AC3E}">
        <p14:creationId xmlns:p14="http://schemas.microsoft.com/office/powerpoint/2010/main" val="8125922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5thgenfinance.com/"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6E50-4F27-D940-DB9D-5A4A76DC0C86}"/>
              </a:ext>
            </a:extLst>
          </p:cNvPr>
          <p:cNvSpPr>
            <a:spLocks noGrp="1"/>
          </p:cNvSpPr>
          <p:nvPr>
            <p:ph type="ctrTitle"/>
          </p:nvPr>
        </p:nvSpPr>
        <p:spPr>
          <a:xfrm>
            <a:off x="2846896" y="2158738"/>
            <a:ext cx="8831704" cy="3113113"/>
          </a:xfrm>
        </p:spPr>
        <p:txBody>
          <a:bodyPr>
            <a:noAutofit/>
          </a:bodyPr>
          <a:lstStyle/>
          <a:p>
            <a:r>
              <a:rPr lang="en-US" sz="6000" b="1" dirty="0">
                <a:solidFill>
                  <a:srgbClr val="92D050"/>
                </a:solidFill>
              </a:rPr>
              <a:t>Generative Context Engineering</a:t>
            </a:r>
            <a:br>
              <a:rPr lang="en-US" sz="6000" b="1" dirty="0">
                <a:solidFill>
                  <a:srgbClr val="92D050"/>
                </a:solidFill>
              </a:rPr>
            </a:br>
            <a:r>
              <a:rPr lang="en-US" sz="4000" b="1" i="1" dirty="0">
                <a:solidFill>
                  <a:srgbClr val="92D050"/>
                </a:solidFill>
              </a:rPr>
              <a:t>Simplified</a:t>
            </a:r>
          </a:p>
        </p:txBody>
      </p:sp>
      <p:pic>
        <p:nvPicPr>
          <p:cNvPr id="2050" name="Picture 2" descr="Ghostbuster-style logo with A.I. letters">
            <a:extLst>
              <a:ext uri="{FF2B5EF4-FFF2-40B4-BE49-F238E27FC236}">
                <a16:creationId xmlns:a16="http://schemas.microsoft.com/office/drawing/2014/main" id="{597DC878-4977-05F9-7BC6-CBFA0391BF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9005" y="2512082"/>
            <a:ext cx="3220065" cy="322006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986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03242 -0.05625 L -0.37526 -0.36667 " pathEditMode="relative" rAng="0" ptsTypes="AA">
                                      <p:cBhvr>
                                        <p:cTn id="6" dur="1300" fill="hold"/>
                                        <p:tgtEl>
                                          <p:spTgt spid="2"/>
                                        </p:tgtEl>
                                        <p:attrNameLst>
                                          <p:attrName>ppt_x</p:attrName>
                                          <p:attrName>ppt_y</p:attrName>
                                        </p:attrNameLst>
                                      </p:cBhvr>
                                      <p:rCtr x="-17148" y="-15532"/>
                                    </p:animMotion>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animEffect transition="in" filter="wipe(down)">
                                      <p:cBhvr>
                                        <p:cTn id="11" dur="319">
                                          <p:stCondLst>
                                            <p:cond delay="0"/>
                                          </p:stCondLst>
                                        </p:cTn>
                                        <p:tgtEl>
                                          <p:spTgt spid="2050"/>
                                        </p:tgtEl>
                                      </p:cBhvr>
                                    </p:animEffect>
                                    <p:anim calcmode="lin" valueType="num">
                                      <p:cBhvr>
                                        <p:cTn id="12" dur="100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13" dur="365"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14" dur="365" tmFilter="0, 0; 0.125,0.2665; 0.25,0.4; 0.375,0.465; 0.5,0.5;  0.625,0.535; 0.75,0.6; 0.875,0.7335; 1,1">
                                          <p:stCondLst>
                                            <p:cond delay="365"/>
                                          </p:stCondLst>
                                        </p:cTn>
                                        <p:tgtEl>
                                          <p:spTgt spid="2050"/>
                                        </p:tgtEl>
                                        <p:attrNameLst>
                                          <p:attrName>ppt_y</p:attrName>
                                        </p:attrNameLst>
                                      </p:cBhvr>
                                      <p:tavLst>
                                        <p:tav tm="0" fmla="#ppt_y-sin(pi*$)/9">
                                          <p:val>
                                            <p:fltVal val="0"/>
                                          </p:val>
                                        </p:tav>
                                        <p:tav tm="100000">
                                          <p:val>
                                            <p:fltVal val="1"/>
                                          </p:val>
                                        </p:tav>
                                      </p:tavLst>
                                    </p:anim>
                                    <p:anim calcmode="lin" valueType="num">
                                      <p:cBhvr>
                                        <p:cTn id="15" dur="183" tmFilter="0, 0; 0.125,0.2665; 0.25,0.4; 0.375,0.465; 0.5,0.5;  0.625,0.535; 0.75,0.6; 0.875,0.7335; 1,1">
                                          <p:stCondLst>
                                            <p:cond delay="728"/>
                                          </p:stCondLst>
                                        </p:cTn>
                                        <p:tgtEl>
                                          <p:spTgt spid="2050"/>
                                        </p:tgtEl>
                                        <p:attrNameLst>
                                          <p:attrName>ppt_y</p:attrName>
                                        </p:attrNameLst>
                                      </p:cBhvr>
                                      <p:tavLst>
                                        <p:tav tm="0" fmla="#ppt_y-sin(pi*$)/27">
                                          <p:val>
                                            <p:fltVal val="0"/>
                                          </p:val>
                                        </p:tav>
                                        <p:tav tm="100000">
                                          <p:val>
                                            <p:fltVal val="1"/>
                                          </p:val>
                                        </p:tav>
                                      </p:tavLst>
                                    </p:anim>
                                    <p:anim calcmode="lin" valueType="num">
                                      <p:cBhvr>
                                        <p:cTn id="16" dur="90" tmFilter="0, 0; 0.125,0.2665; 0.25,0.4; 0.375,0.465; 0.5,0.5;  0.625,0.535; 0.75,0.6; 0.875,0.7335; 1,1">
                                          <p:stCondLst>
                                            <p:cond delay="911"/>
                                          </p:stCondLst>
                                        </p:cTn>
                                        <p:tgtEl>
                                          <p:spTgt spid="2050"/>
                                        </p:tgtEl>
                                        <p:attrNameLst>
                                          <p:attrName>ppt_y</p:attrName>
                                        </p:attrNameLst>
                                      </p:cBhvr>
                                      <p:tavLst>
                                        <p:tav tm="0" fmla="#ppt_y-sin(pi*$)/81">
                                          <p:val>
                                            <p:fltVal val="0"/>
                                          </p:val>
                                        </p:tav>
                                        <p:tav tm="100000">
                                          <p:val>
                                            <p:fltVal val="1"/>
                                          </p:val>
                                        </p:tav>
                                      </p:tavLst>
                                    </p:anim>
                                    <p:animScale>
                                      <p:cBhvr>
                                        <p:cTn id="17" dur="14">
                                          <p:stCondLst>
                                            <p:cond delay="357"/>
                                          </p:stCondLst>
                                        </p:cTn>
                                        <p:tgtEl>
                                          <p:spTgt spid="2050"/>
                                        </p:tgtEl>
                                      </p:cBhvr>
                                      <p:to x="100000" y="60000"/>
                                    </p:animScale>
                                    <p:animScale>
                                      <p:cBhvr>
                                        <p:cTn id="18" dur="91" decel="50000">
                                          <p:stCondLst>
                                            <p:cond delay="372"/>
                                          </p:stCondLst>
                                        </p:cTn>
                                        <p:tgtEl>
                                          <p:spTgt spid="2050"/>
                                        </p:tgtEl>
                                      </p:cBhvr>
                                      <p:to x="100000" y="100000"/>
                                    </p:animScale>
                                    <p:animScale>
                                      <p:cBhvr>
                                        <p:cTn id="19" dur="14">
                                          <p:stCondLst>
                                            <p:cond delay="722"/>
                                          </p:stCondLst>
                                        </p:cTn>
                                        <p:tgtEl>
                                          <p:spTgt spid="2050"/>
                                        </p:tgtEl>
                                      </p:cBhvr>
                                      <p:to x="100000" y="80000"/>
                                    </p:animScale>
                                    <p:animScale>
                                      <p:cBhvr>
                                        <p:cTn id="20" dur="91" decel="50000">
                                          <p:stCondLst>
                                            <p:cond delay="736"/>
                                          </p:stCondLst>
                                        </p:cTn>
                                        <p:tgtEl>
                                          <p:spTgt spid="2050"/>
                                        </p:tgtEl>
                                      </p:cBhvr>
                                      <p:to x="100000" y="100000"/>
                                    </p:animScale>
                                    <p:animScale>
                                      <p:cBhvr>
                                        <p:cTn id="21" dur="14">
                                          <p:stCondLst>
                                            <p:cond delay="903"/>
                                          </p:stCondLst>
                                        </p:cTn>
                                        <p:tgtEl>
                                          <p:spTgt spid="2050"/>
                                        </p:tgtEl>
                                      </p:cBhvr>
                                      <p:to x="100000" y="90000"/>
                                    </p:animScale>
                                    <p:animScale>
                                      <p:cBhvr>
                                        <p:cTn id="22" dur="91" decel="50000">
                                          <p:stCondLst>
                                            <p:cond delay="917"/>
                                          </p:stCondLst>
                                        </p:cTn>
                                        <p:tgtEl>
                                          <p:spTgt spid="2050"/>
                                        </p:tgtEl>
                                      </p:cBhvr>
                                      <p:to x="100000" y="100000"/>
                                    </p:animScale>
                                    <p:animScale>
                                      <p:cBhvr>
                                        <p:cTn id="23" dur="14">
                                          <p:stCondLst>
                                            <p:cond delay="994"/>
                                          </p:stCondLst>
                                        </p:cTn>
                                        <p:tgtEl>
                                          <p:spTgt spid="2050"/>
                                        </p:tgtEl>
                                      </p:cBhvr>
                                      <p:to x="100000" y="95000"/>
                                    </p:animScale>
                                    <p:animScale>
                                      <p:cBhvr>
                                        <p:cTn id="24" dur="91" decel="50000">
                                          <p:stCondLst>
                                            <p:cond delay="1009"/>
                                          </p:stCondLst>
                                        </p:cTn>
                                        <p:tgtEl>
                                          <p:spTgt spid="205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erson in a suit and tie&#10;&#10;AI-generated content may be incorrect.">
            <a:extLst>
              <a:ext uri="{FF2B5EF4-FFF2-40B4-BE49-F238E27FC236}">
                <a16:creationId xmlns:a16="http://schemas.microsoft.com/office/drawing/2014/main" id="{0B98F835-150B-6077-9C0C-6FBA7D9887D5}"/>
              </a:ext>
            </a:extLst>
          </p:cNvPr>
          <p:cNvPicPr>
            <a:picLocks noChangeAspect="1"/>
          </p:cNvPicPr>
          <p:nvPr/>
        </p:nvPicPr>
        <p:blipFill>
          <a:blip r:embed="rId3">
            <a:extLst>
              <a:ext uri="{28A0092B-C50C-407E-A947-70E740481C1C}">
                <a14:useLocalDpi xmlns:a14="http://schemas.microsoft.com/office/drawing/2010/main" val="0"/>
              </a:ext>
            </a:extLst>
          </a:blip>
          <a:srcRect l="13369" r="14869"/>
          <a:stretch>
            <a:fillRect/>
          </a:stretch>
        </p:blipFill>
        <p:spPr>
          <a:xfrm>
            <a:off x="8149811" y="820132"/>
            <a:ext cx="3280974" cy="4572000"/>
          </a:xfrm>
          <a:prstGeom prst="roundRect">
            <a:avLst>
              <a:gd name="adj" fmla="val 42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3" name="TextBox 2">
            <a:extLst>
              <a:ext uri="{FF2B5EF4-FFF2-40B4-BE49-F238E27FC236}">
                <a16:creationId xmlns:a16="http://schemas.microsoft.com/office/drawing/2014/main" id="{29AE472F-B140-90E9-0B5D-330A8B171C2C}"/>
              </a:ext>
            </a:extLst>
          </p:cNvPr>
          <p:cNvSpPr txBox="1"/>
          <p:nvPr/>
        </p:nvSpPr>
        <p:spPr>
          <a:xfrm>
            <a:off x="1008663" y="4093182"/>
            <a:ext cx="6164653" cy="1828800"/>
          </a:xfrm>
          <a:prstGeom prst="rect">
            <a:avLst/>
          </a:prstGeom>
        </p:spPr>
        <p:txBody>
          <a:bodyPr vert="horz" lIns="91440" tIns="45720" rIns="91440" bIns="45720" rtlCol="0" anchor="t">
            <a:normAutofit/>
          </a:bodyPr>
          <a:lstStyle/>
          <a:p>
            <a:pPr>
              <a:spcAft>
                <a:spcPts val="1000"/>
              </a:spcAft>
              <a:buClr>
                <a:schemeClr val="tx1"/>
              </a:buClr>
              <a:buSzPct val="100000"/>
            </a:pPr>
            <a:r>
              <a:rPr lang="en-US" kern="1200" cap="none" dirty="0">
                <a:solidFill>
                  <a:srgbClr val="92D050"/>
                </a:solidFill>
                <a:effectLst/>
                <a:latin typeface="+mn-lt"/>
                <a:ea typeface="+mn-ea"/>
                <a:cs typeface="+mn-cs"/>
              </a:rPr>
              <a:t>1. Review the building blocks of LLMs</a:t>
            </a:r>
          </a:p>
          <a:p>
            <a:pPr>
              <a:spcAft>
                <a:spcPts val="1000"/>
              </a:spcAft>
              <a:buClr>
                <a:schemeClr val="tx1"/>
              </a:buClr>
              <a:buSzPct val="100000"/>
            </a:pPr>
            <a:r>
              <a:rPr lang="en-US" kern="1200" cap="none" dirty="0">
                <a:solidFill>
                  <a:srgbClr val="92D050"/>
                </a:solidFill>
                <a:effectLst/>
                <a:latin typeface="+mn-lt"/>
                <a:ea typeface="+mn-ea"/>
                <a:cs typeface="+mn-cs"/>
              </a:rPr>
              <a:t>2. Context engineering and context control</a:t>
            </a:r>
          </a:p>
          <a:p>
            <a:pPr>
              <a:spcAft>
                <a:spcPts val="1000"/>
              </a:spcAft>
              <a:buClr>
                <a:schemeClr val="tx1"/>
              </a:buClr>
              <a:buSzPct val="100000"/>
            </a:pPr>
            <a:r>
              <a:rPr lang="en-US" kern="1200" cap="none" dirty="0">
                <a:solidFill>
                  <a:srgbClr val="92D050"/>
                </a:solidFill>
                <a:effectLst/>
                <a:latin typeface="+mn-lt"/>
                <a:ea typeface="+mn-ea"/>
                <a:cs typeface="+mn-cs"/>
              </a:rPr>
              <a:t>3. Build a few generative agents</a:t>
            </a:r>
          </a:p>
          <a:p>
            <a:pPr>
              <a:spcAft>
                <a:spcPts val="1000"/>
              </a:spcAft>
              <a:buClr>
                <a:schemeClr val="tx1"/>
              </a:buClr>
              <a:buSzPct val="100000"/>
            </a:pPr>
            <a:r>
              <a:rPr lang="en-US" kern="1200" cap="none" dirty="0">
                <a:solidFill>
                  <a:srgbClr val="92D050"/>
                </a:solidFill>
                <a:effectLst/>
                <a:latin typeface="+mn-lt"/>
                <a:ea typeface="+mn-ea"/>
                <a:cs typeface="+mn-cs"/>
              </a:rPr>
              <a:t>4. Put the agents to work on real project</a:t>
            </a:r>
          </a:p>
        </p:txBody>
      </p:sp>
      <p:sp>
        <p:nvSpPr>
          <p:cNvPr id="6" name="Title 5">
            <a:extLst>
              <a:ext uri="{FF2B5EF4-FFF2-40B4-BE49-F238E27FC236}">
                <a16:creationId xmlns:a16="http://schemas.microsoft.com/office/drawing/2014/main" id="{71C7C780-8321-AB95-D700-833CFAFA8419}"/>
              </a:ext>
            </a:extLst>
          </p:cNvPr>
          <p:cNvSpPr txBox="1">
            <a:spLocks noGrp="1"/>
          </p:cNvSpPr>
          <p:nvPr>
            <p:ph type="title"/>
          </p:nvPr>
        </p:nvSpPr>
        <p:spPr>
          <a:xfrm>
            <a:off x="761215" y="573485"/>
            <a:ext cx="6164263" cy="631597"/>
          </a:xfrm>
          <a:prstGeom prst="rect">
            <a:avLst/>
          </a:prstGeom>
        </p:spPr>
        <p:txBody>
          <a:bodyPr vert="horz" lIns="91440" tIns="45720" rIns="91440" bIns="45720" rtlCol="0" anchor="t">
            <a:normAutofit fontScale="90000"/>
          </a:bodyPr>
          <a:lstStyle/>
          <a:p>
            <a:pPr>
              <a:spcAft>
                <a:spcPts val="1000"/>
              </a:spcAft>
              <a:buClr>
                <a:schemeClr val="tx1"/>
              </a:buClr>
              <a:buSzPct val="100000"/>
            </a:pPr>
            <a:r>
              <a:rPr lang="en-US" kern="1200" cap="none" dirty="0">
                <a:solidFill>
                  <a:srgbClr val="92D050"/>
                </a:solidFill>
                <a:effectLst/>
                <a:latin typeface="+mn-lt"/>
                <a:ea typeface="+mn-ea"/>
                <a:cs typeface="+mn-cs"/>
              </a:rPr>
              <a:t>Robert Maxwell, ASA</a:t>
            </a:r>
            <a:br>
              <a:rPr lang="en-US" kern="1200" cap="none" dirty="0">
                <a:solidFill>
                  <a:srgbClr val="92D050"/>
                </a:solidFill>
                <a:effectLst/>
                <a:latin typeface="+mn-lt"/>
                <a:ea typeface="+mn-ea"/>
                <a:cs typeface="+mn-cs"/>
              </a:rPr>
            </a:br>
            <a:endParaRPr lang="en-US" cap="none" dirty="0">
              <a:solidFill>
                <a:srgbClr val="92D050"/>
              </a:solidFill>
            </a:endParaRPr>
          </a:p>
        </p:txBody>
      </p:sp>
      <p:sp>
        <p:nvSpPr>
          <p:cNvPr id="5" name="TextBox 4">
            <a:extLst>
              <a:ext uri="{FF2B5EF4-FFF2-40B4-BE49-F238E27FC236}">
                <a16:creationId xmlns:a16="http://schemas.microsoft.com/office/drawing/2014/main" id="{DB78E294-118E-6DAE-A257-78600BCB758E}"/>
              </a:ext>
            </a:extLst>
          </p:cNvPr>
          <p:cNvSpPr txBox="1"/>
          <p:nvPr/>
        </p:nvSpPr>
        <p:spPr>
          <a:xfrm>
            <a:off x="1008667" y="1205082"/>
            <a:ext cx="2516957" cy="369332"/>
          </a:xfrm>
          <a:prstGeom prst="rect">
            <a:avLst/>
          </a:prstGeom>
          <a:noFill/>
        </p:spPr>
        <p:txBody>
          <a:bodyPr wrap="square" rtlCol="0">
            <a:spAutoFit/>
          </a:bodyPr>
          <a:lstStyle/>
          <a:p>
            <a:r>
              <a:rPr lang="en-US" dirty="0">
                <a:solidFill>
                  <a:srgbClr val="92D050"/>
                </a:solidFill>
              </a:rPr>
              <a:t>Actuary</a:t>
            </a:r>
          </a:p>
        </p:txBody>
      </p:sp>
      <p:sp>
        <p:nvSpPr>
          <p:cNvPr id="7" name="TextBox 6">
            <a:extLst>
              <a:ext uri="{FF2B5EF4-FFF2-40B4-BE49-F238E27FC236}">
                <a16:creationId xmlns:a16="http://schemas.microsoft.com/office/drawing/2014/main" id="{D8DB8656-4797-2655-B4E4-32E6FD23A64B}"/>
              </a:ext>
            </a:extLst>
          </p:cNvPr>
          <p:cNvSpPr txBox="1"/>
          <p:nvPr/>
        </p:nvSpPr>
        <p:spPr>
          <a:xfrm>
            <a:off x="1008666" y="1523411"/>
            <a:ext cx="2516957" cy="369332"/>
          </a:xfrm>
          <a:prstGeom prst="rect">
            <a:avLst/>
          </a:prstGeom>
          <a:noFill/>
        </p:spPr>
        <p:txBody>
          <a:bodyPr wrap="square" rtlCol="0">
            <a:spAutoFit/>
          </a:bodyPr>
          <a:lstStyle/>
          <a:p>
            <a:r>
              <a:rPr lang="en-US" dirty="0">
                <a:solidFill>
                  <a:srgbClr val="92D050"/>
                </a:solidFill>
              </a:rPr>
              <a:t>IT Guy</a:t>
            </a:r>
          </a:p>
        </p:txBody>
      </p:sp>
      <p:sp>
        <p:nvSpPr>
          <p:cNvPr id="8" name="TextBox 7">
            <a:extLst>
              <a:ext uri="{FF2B5EF4-FFF2-40B4-BE49-F238E27FC236}">
                <a16:creationId xmlns:a16="http://schemas.microsoft.com/office/drawing/2014/main" id="{DB927807-1BD7-47DA-3910-811E3ED31BEB}"/>
              </a:ext>
            </a:extLst>
          </p:cNvPr>
          <p:cNvSpPr txBox="1"/>
          <p:nvPr/>
        </p:nvSpPr>
        <p:spPr>
          <a:xfrm>
            <a:off x="1008665" y="1866297"/>
            <a:ext cx="2516957" cy="369332"/>
          </a:xfrm>
          <a:prstGeom prst="rect">
            <a:avLst/>
          </a:prstGeom>
          <a:noFill/>
        </p:spPr>
        <p:txBody>
          <a:bodyPr wrap="square" rtlCol="0">
            <a:spAutoFit/>
          </a:bodyPr>
          <a:lstStyle/>
          <a:p>
            <a:r>
              <a:rPr lang="en-US" dirty="0">
                <a:solidFill>
                  <a:srgbClr val="92D050"/>
                </a:solidFill>
              </a:rPr>
              <a:t>Data Guy</a:t>
            </a:r>
          </a:p>
        </p:txBody>
      </p:sp>
      <p:sp>
        <p:nvSpPr>
          <p:cNvPr id="10" name="TextBox 9">
            <a:extLst>
              <a:ext uri="{FF2B5EF4-FFF2-40B4-BE49-F238E27FC236}">
                <a16:creationId xmlns:a16="http://schemas.microsoft.com/office/drawing/2014/main" id="{9D1448F8-122E-95C7-5AA7-AECEE60F2852}"/>
              </a:ext>
            </a:extLst>
          </p:cNvPr>
          <p:cNvSpPr txBox="1"/>
          <p:nvPr/>
        </p:nvSpPr>
        <p:spPr>
          <a:xfrm>
            <a:off x="1008665" y="2158455"/>
            <a:ext cx="2516957" cy="369332"/>
          </a:xfrm>
          <a:prstGeom prst="rect">
            <a:avLst/>
          </a:prstGeom>
          <a:noFill/>
        </p:spPr>
        <p:txBody>
          <a:bodyPr wrap="square" rtlCol="0">
            <a:spAutoFit/>
          </a:bodyPr>
          <a:lstStyle/>
          <a:p>
            <a:r>
              <a:rPr lang="en-US" dirty="0">
                <a:solidFill>
                  <a:srgbClr val="92D050"/>
                </a:solidFill>
              </a:rPr>
              <a:t>Fund Manager</a:t>
            </a:r>
          </a:p>
        </p:txBody>
      </p:sp>
      <p:sp>
        <p:nvSpPr>
          <p:cNvPr id="11" name="TextBox 10">
            <a:extLst>
              <a:ext uri="{FF2B5EF4-FFF2-40B4-BE49-F238E27FC236}">
                <a16:creationId xmlns:a16="http://schemas.microsoft.com/office/drawing/2014/main" id="{5362D6FB-DF69-E67A-743E-60E24464BF0E}"/>
              </a:ext>
            </a:extLst>
          </p:cNvPr>
          <p:cNvSpPr txBox="1"/>
          <p:nvPr/>
        </p:nvSpPr>
        <p:spPr>
          <a:xfrm>
            <a:off x="1008664" y="2466662"/>
            <a:ext cx="2516957" cy="369332"/>
          </a:xfrm>
          <a:prstGeom prst="rect">
            <a:avLst/>
          </a:prstGeom>
          <a:noFill/>
        </p:spPr>
        <p:txBody>
          <a:bodyPr wrap="square" rtlCol="0">
            <a:spAutoFit/>
          </a:bodyPr>
          <a:lstStyle/>
          <a:p>
            <a:r>
              <a:rPr lang="en-US" dirty="0">
                <a:solidFill>
                  <a:srgbClr val="92D050"/>
                </a:solidFill>
              </a:rPr>
              <a:t>Day Trader</a:t>
            </a:r>
          </a:p>
        </p:txBody>
      </p:sp>
      <p:sp>
        <p:nvSpPr>
          <p:cNvPr id="12" name="TextBox 11">
            <a:extLst>
              <a:ext uri="{FF2B5EF4-FFF2-40B4-BE49-F238E27FC236}">
                <a16:creationId xmlns:a16="http://schemas.microsoft.com/office/drawing/2014/main" id="{1A18F348-0A16-EC52-5B54-B88D37716950}"/>
              </a:ext>
            </a:extLst>
          </p:cNvPr>
          <p:cNvSpPr txBox="1"/>
          <p:nvPr/>
        </p:nvSpPr>
        <p:spPr>
          <a:xfrm>
            <a:off x="1008664" y="2811646"/>
            <a:ext cx="2516957" cy="369332"/>
          </a:xfrm>
          <a:prstGeom prst="rect">
            <a:avLst/>
          </a:prstGeom>
          <a:noFill/>
        </p:spPr>
        <p:txBody>
          <a:bodyPr wrap="square" rtlCol="0">
            <a:spAutoFit/>
          </a:bodyPr>
          <a:lstStyle/>
          <a:p>
            <a:r>
              <a:rPr lang="en-US" dirty="0">
                <a:solidFill>
                  <a:srgbClr val="92D050"/>
                </a:solidFill>
              </a:rPr>
              <a:t>Jazz Musician</a:t>
            </a:r>
          </a:p>
        </p:txBody>
      </p:sp>
      <p:sp>
        <p:nvSpPr>
          <p:cNvPr id="13" name="TextBox 12">
            <a:extLst>
              <a:ext uri="{FF2B5EF4-FFF2-40B4-BE49-F238E27FC236}">
                <a16:creationId xmlns:a16="http://schemas.microsoft.com/office/drawing/2014/main" id="{A7CE6BD8-8210-55DC-1E14-052F04B32789}"/>
              </a:ext>
            </a:extLst>
          </p:cNvPr>
          <p:cNvSpPr txBox="1"/>
          <p:nvPr/>
        </p:nvSpPr>
        <p:spPr>
          <a:xfrm>
            <a:off x="1008663" y="3156630"/>
            <a:ext cx="2516957" cy="369332"/>
          </a:xfrm>
          <a:prstGeom prst="rect">
            <a:avLst/>
          </a:prstGeom>
          <a:noFill/>
        </p:spPr>
        <p:txBody>
          <a:bodyPr wrap="square" rtlCol="0">
            <a:spAutoFit/>
          </a:bodyPr>
          <a:lstStyle/>
          <a:p>
            <a:r>
              <a:rPr lang="en-US" dirty="0">
                <a:solidFill>
                  <a:srgbClr val="92D050"/>
                </a:solidFill>
              </a:rPr>
              <a:t>Mountain Bike “Coach”</a:t>
            </a:r>
          </a:p>
        </p:txBody>
      </p:sp>
      <p:sp>
        <p:nvSpPr>
          <p:cNvPr id="14" name="TextBox 13">
            <a:extLst>
              <a:ext uri="{FF2B5EF4-FFF2-40B4-BE49-F238E27FC236}">
                <a16:creationId xmlns:a16="http://schemas.microsoft.com/office/drawing/2014/main" id="{B9DD5B1B-E604-3CD3-30CF-7B15C82D994A}"/>
              </a:ext>
            </a:extLst>
          </p:cNvPr>
          <p:cNvSpPr txBox="1"/>
          <p:nvPr/>
        </p:nvSpPr>
        <p:spPr>
          <a:xfrm>
            <a:off x="1008663" y="3501614"/>
            <a:ext cx="2516957" cy="369332"/>
          </a:xfrm>
          <a:prstGeom prst="rect">
            <a:avLst/>
          </a:prstGeom>
          <a:noFill/>
        </p:spPr>
        <p:txBody>
          <a:bodyPr wrap="square" rtlCol="0">
            <a:spAutoFit/>
          </a:bodyPr>
          <a:lstStyle/>
          <a:p>
            <a:r>
              <a:rPr lang="en-US" dirty="0">
                <a:solidFill>
                  <a:srgbClr val="92D050"/>
                </a:solidFill>
              </a:rPr>
              <a:t>Tinkerer</a:t>
            </a:r>
          </a:p>
        </p:txBody>
      </p:sp>
    </p:spTree>
    <p:extLst>
      <p:ext uri="{BB962C8B-B14F-4D97-AF65-F5344CB8AC3E}">
        <p14:creationId xmlns:p14="http://schemas.microsoft.com/office/powerpoint/2010/main" val="394709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3">
                                            <p:txEl>
                                              <p:pRg st="0" end="0"/>
                                            </p:txEl>
                                          </p:spTgt>
                                        </p:tgtEl>
                                        <p:attrNameLst>
                                          <p:attrName>style.visibility</p:attrName>
                                        </p:attrNameLst>
                                      </p:cBhvr>
                                      <p:to>
                                        <p:strVal val="visible"/>
                                      </p:to>
                                    </p:set>
                                    <p:anim calcmode="lin" valueType="num">
                                      <p:cBhvr>
                                        <p:cTn id="55"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56"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57" dur="500"/>
                                        <p:tgtEl>
                                          <p:spTgt spid="3">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3">
                                            <p:txEl>
                                              <p:pRg st="1" end="1"/>
                                            </p:txEl>
                                          </p:spTgt>
                                        </p:tgtEl>
                                        <p:attrNameLst>
                                          <p:attrName>style.visibility</p:attrName>
                                        </p:attrNameLst>
                                      </p:cBhvr>
                                      <p:to>
                                        <p:strVal val="visible"/>
                                      </p:to>
                                    </p:set>
                                    <p:anim calcmode="lin" valueType="num">
                                      <p:cBhvr>
                                        <p:cTn id="6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6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64" dur="500"/>
                                        <p:tgtEl>
                                          <p:spTgt spid="3">
                                            <p:txEl>
                                              <p:pRg st="1" end="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3">
                                            <p:txEl>
                                              <p:pRg st="2" end="2"/>
                                            </p:txEl>
                                          </p:spTgt>
                                        </p:tgtEl>
                                        <p:attrNameLst>
                                          <p:attrName>style.visibility</p:attrName>
                                        </p:attrNameLst>
                                      </p:cBhvr>
                                      <p:to>
                                        <p:strVal val="visible"/>
                                      </p:to>
                                    </p:set>
                                    <p:anim calcmode="lin" valueType="num">
                                      <p:cBhvr>
                                        <p:cTn id="6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70"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71" dur="500"/>
                                        <p:tgtEl>
                                          <p:spTgt spid="3">
                                            <p:txEl>
                                              <p:pRg st="2" end="2"/>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3">
                                            <p:txEl>
                                              <p:pRg st="3" end="3"/>
                                            </p:txEl>
                                          </p:spTgt>
                                        </p:tgtEl>
                                        <p:attrNameLst>
                                          <p:attrName>style.visibility</p:attrName>
                                        </p:attrNameLst>
                                      </p:cBhvr>
                                      <p:to>
                                        <p:strVal val="visible"/>
                                      </p:to>
                                    </p:set>
                                    <p:anim calcmode="lin" valueType="num">
                                      <p:cBhvr>
                                        <p:cTn id="76"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77"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7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1"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CD9EB-E348-B851-83E8-F99E4C024D09}"/>
              </a:ext>
            </a:extLst>
          </p:cNvPr>
          <p:cNvSpPr>
            <a:spLocks noGrp="1"/>
          </p:cNvSpPr>
          <p:nvPr>
            <p:ph type="title"/>
          </p:nvPr>
        </p:nvSpPr>
        <p:spPr>
          <a:xfrm>
            <a:off x="1250623" y="1940350"/>
            <a:ext cx="9690754" cy="2359843"/>
          </a:xfrm>
        </p:spPr>
        <p:txBody>
          <a:bodyPr>
            <a:noAutofit/>
          </a:bodyPr>
          <a:lstStyle/>
          <a:p>
            <a:pPr algn="ctr"/>
            <a:r>
              <a:rPr lang="en-US" sz="5400" b="1" cap="none" dirty="0">
                <a:solidFill>
                  <a:srgbClr val="92D050"/>
                </a:solidFill>
                <a:latin typeface="+mn-lt"/>
              </a:rPr>
              <a:t>Apprehensive about integrating LLM into your work?</a:t>
            </a:r>
          </a:p>
        </p:txBody>
      </p:sp>
      <p:sp>
        <p:nvSpPr>
          <p:cNvPr id="3" name="TextBox 2">
            <a:extLst>
              <a:ext uri="{FF2B5EF4-FFF2-40B4-BE49-F238E27FC236}">
                <a16:creationId xmlns:a16="http://schemas.microsoft.com/office/drawing/2014/main" id="{744EC66B-4E6A-66F6-5A62-5C0EC0E83B29}"/>
              </a:ext>
            </a:extLst>
          </p:cNvPr>
          <p:cNvSpPr txBox="1"/>
          <p:nvPr/>
        </p:nvSpPr>
        <p:spPr>
          <a:xfrm>
            <a:off x="2969443" y="3120272"/>
            <a:ext cx="2516957" cy="1456267"/>
          </a:xfrm>
          <a:prstGeom prst="rect">
            <a:avLst/>
          </a:prstGeom>
          <a:noFill/>
        </p:spPr>
        <p:txBody>
          <a:bodyPr wrap="square" rtlCol="0">
            <a:spAutoFit/>
          </a:bodyPr>
          <a:lstStyle/>
          <a:p>
            <a:endParaRPr lang="en-US"/>
          </a:p>
        </p:txBody>
      </p:sp>
      <p:pic>
        <p:nvPicPr>
          <p:cNvPr id="9" name="Picture 8" descr="A qr code with a white background&#10;&#10;AI-generated content may be incorrect.">
            <a:extLst>
              <a:ext uri="{FF2B5EF4-FFF2-40B4-BE49-F238E27FC236}">
                <a16:creationId xmlns:a16="http://schemas.microsoft.com/office/drawing/2014/main" id="{89C285F2-1CAE-8443-A949-ACD449054F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10974" y="4224396"/>
            <a:ext cx="1802330" cy="1802330"/>
          </a:xfrm>
          <a:prstGeom prst="rect">
            <a:avLst/>
          </a:prstGeom>
        </p:spPr>
      </p:pic>
      <p:sp>
        <p:nvSpPr>
          <p:cNvPr id="10" name="TextBox 9">
            <a:extLst>
              <a:ext uri="{FF2B5EF4-FFF2-40B4-BE49-F238E27FC236}">
                <a16:creationId xmlns:a16="http://schemas.microsoft.com/office/drawing/2014/main" id="{6A932144-A95D-27EF-77D7-A03321EFF907}"/>
              </a:ext>
            </a:extLst>
          </p:cNvPr>
          <p:cNvSpPr txBox="1"/>
          <p:nvPr/>
        </p:nvSpPr>
        <p:spPr>
          <a:xfrm>
            <a:off x="1506071" y="4894728"/>
            <a:ext cx="7153835" cy="461665"/>
          </a:xfrm>
          <a:prstGeom prst="rect">
            <a:avLst/>
          </a:prstGeom>
          <a:noFill/>
        </p:spPr>
        <p:txBody>
          <a:bodyPr wrap="square" rtlCol="0">
            <a:spAutoFit/>
          </a:bodyPr>
          <a:lstStyle/>
          <a:p>
            <a:r>
              <a:rPr lang="en-US" sz="2400" b="1" dirty="0">
                <a:solidFill>
                  <a:srgbClr val="92D050"/>
                </a:solidFill>
              </a:rPr>
              <a:t>https://github.com/5thgenfinance/full-stack-actuarial</a:t>
            </a:r>
          </a:p>
        </p:txBody>
      </p:sp>
    </p:spTree>
    <p:extLst>
      <p:ext uri="{BB962C8B-B14F-4D97-AF65-F5344CB8AC3E}">
        <p14:creationId xmlns:p14="http://schemas.microsoft.com/office/powerpoint/2010/main" val="40702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6 -2.59259E-6 L -0.00066 -0.1081 " pathEditMode="relative" rAng="0" ptsTypes="AA">
                                      <p:cBhvr>
                                        <p:cTn id="6" dur="1200" fill="hold"/>
                                        <p:tgtEl>
                                          <p:spTgt spid="2"/>
                                        </p:tgtEl>
                                        <p:attrNameLst>
                                          <p:attrName>ppt_x</p:attrName>
                                          <p:attrName>ppt_y</p:attrName>
                                        </p:attrNameLst>
                                      </p:cBhvr>
                                      <p:rCtr x="-39" y="-5417"/>
                                    </p:animMotion>
                                  </p:childTnLst>
                                </p:cTn>
                              </p:par>
                            </p:childTnLst>
                          </p:cTn>
                        </p:par>
                        <p:par>
                          <p:cTn id="7" fill="hold">
                            <p:stCondLst>
                              <p:cond delay="1200"/>
                            </p:stCondLst>
                            <p:childTnLst>
                              <p:par>
                                <p:cTn id="8" presetID="2" presetClass="entr" presetSubtype="4"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 calcmode="lin" valueType="num">
                                      <p:cBhvr additive="base">
                                        <p:cTn id="10" dur="500" fill="hold"/>
                                        <p:tgtEl>
                                          <p:spTgt spid="10"/>
                                        </p:tgtEl>
                                        <p:attrNameLst>
                                          <p:attrName>ppt_x</p:attrName>
                                        </p:attrNameLst>
                                      </p:cBhvr>
                                      <p:tavLst>
                                        <p:tav tm="0">
                                          <p:val>
                                            <p:strVal val="#ppt_x"/>
                                          </p:val>
                                        </p:tav>
                                        <p:tav tm="100000">
                                          <p:val>
                                            <p:strVal val="#ppt_x"/>
                                          </p:val>
                                        </p:tav>
                                      </p:tavLst>
                                    </p:anim>
                                    <p:anim calcmode="lin" valueType="num">
                                      <p:cBhvr additive="base">
                                        <p:cTn id="11" dur="500" fill="hold"/>
                                        <p:tgtEl>
                                          <p:spTgt spid="10"/>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6F0A8-A765-F9A0-F082-CF72FEED1144}"/>
              </a:ext>
            </a:extLst>
          </p:cNvPr>
          <p:cNvSpPr>
            <a:spLocks noGrp="1"/>
          </p:cNvSpPr>
          <p:nvPr>
            <p:ph type="title"/>
          </p:nvPr>
        </p:nvSpPr>
        <p:spPr>
          <a:xfrm>
            <a:off x="685801" y="609601"/>
            <a:ext cx="10131425" cy="804420"/>
          </a:xfrm>
        </p:spPr>
        <p:txBody>
          <a:bodyPr>
            <a:noAutofit/>
          </a:bodyPr>
          <a:lstStyle/>
          <a:p>
            <a:pPr algn="ctr"/>
            <a:r>
              <a:rPr lang="en-US" sz="4800" b="1" cap="none" dirty="0">
                <a:solidFill>
                  <a:srgbClr val="92D050"/>
                </a:solidFill>
              </a:rPr>
              <a:t>Apprehension Vs Comprehension</a:t>
            </a:r>
            <a:br>
              <a:rPr lang="en-US" sz="4800" b="1" dirty="0">
                <a:solidFill>
                  <a:srgbClr val="92D050"/>
                </a:solidFill>
              </a:rPr>
            </a:br>
            <a:endParaRPr lang="en-US" sz="4800" dirty="0">
              <a:solidFill>
                <a:srgbClr val="92D050"/>
              </a:solidFill>
            </a:endParaRPr>
          </a:p>
        </p:txBody>
      </p:sp>
      <p:sp>
        <p:nvSpPr>
          <p:cNvPr id="3" name="Content Placeholder 2">
            <a:extLst>
              <a:ext uri="{FF2B5EF4-FFF2-40B4-BE49-F238E27FC236}">
                <a16:creationId xmlns:a16="http://schemas.microsoft.com/office/drawing/2014/main" id="{7B1BE54C-3335-156A-E2EF-DF1F4157000E}"/>
              </a:ext>
            </a:extLst>
          </p:cNvPr>
          <p:cNvSpPr>
            <a:spLocks noGrp="1"/>
          </p:cNvSpPr>
          <p:nvPr>
            <p:ph idx="1"/>
          </p:nvPr>
        </p:nvSpPr>
        <p:spPr>
          <a:xfrm>
            <a:off x="1091735" y="1517719"/>
            <a:ext cx="4762892" cy="2894028"/>
          </a:xfrm>
        </p:spPr>
        <p:txBody>
          <a:bodyPr/>
          <a:lstStyle/>
          <a:p>
            <a:pPr marL="0" indent="0">
              <a:buNone/>
            </a:pPr>
            <a:r>
              <a:rPr lang="en-US" sz="2800" b="1" dirty="0">
                <a:solidFill>
                  <a:srgbClr val="92D050"/>
                </a:solidFill>
              </a:rPr>
              <a:t>Apprehensive Learning</a:t>
            </a:r>
          </a:p>
          <a:p>
            <a:r>
              <a:rPr lang="en-US" dirty="0">
                <a:solidFill>
                  <a:srgbClr val="92D050"/>
                </a:solidFill>
              </a:rPr>
              <a:t>Initial grasp of concept</a:t>
            </a:r>
          </a:p>
          <a:p>
            <a:r>
              <a:rPr lang="en-US" dirty="0">
                <a:solidFill>
                  <a:srgbClr val="92D050"/>
                </a:solidFill>
              </a:rPr>
              <a:t>Intuitive perception</a:t>
            </a:r>
          </a:p>
          <a:p>
            <a:r>
              <a:rPr lang="en-US" dirty="0">
                <a:solidFill>
                  <a:srgbClr val="92D050"/>
                </a:solidFill>
              </a:rPr>
              <a:t>Foundation for deeper work</a:t>
            </a:r>
          </a:p>
          <a:p>
            <a:r>
              <a:rPr lang="en-US" dirty="0">
                <a:solidFill>
                  <a:srgbClr val="92D050"/>
                </a:solidFill>
              </a:rPr>
              <a:t>“Riding a bike”</a:t>
            </a:r>
          </a:p>
          <a:p>
            <a:endParaRPr lang="en-US" dirty="0"/>
          </a:p>
        </p:txBody>
      </p:sp>
      <p:sp>
        <p:nvSpPr>
          <p:cNvPr id="4" name="Content Placeholder 2">
            <a:extLst>
              <a:ext uri="{FF2B5EF4-FFF2-40B4-BE49-F238E27FC236}">
                <a16:creationId xmlns:a16="http://schemas.microsoft.com/office/drawing/2014/main" id="{84719498-0405-251E-7486-49268A6AE420}"/>
              </a:ext>
            </a:extLst>
          </p:cNvPr>
          <p:cNvSpPr txBox="1">
            <a:spLocks/>
          </p:cNvSpPr>
          <p:nvPr/>
        </p:nvSpPr>
        <p:spPr>
          <a:xfrm>
            <a:off x="6337373" y="1517719"/>
            <a:ext cx="4762892" cy="289402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Font typeface="Arial"/>
              <a:buNone/>
            </a:pPr>
            <a:r>
              <a:rPr lang="en-US" sz="2800" b="1" dirty="0">
                <a:solidFill>
                  <a:srgbClr val="92D050"/>
                </a:solidFill>
              </a:rPr>
              <a:t>Comprehensive Learning</a:t>
            </a:r>
          </a:p>
          <a:p>
            <a:r>
              <a:rPr lang="en-US" dirty="0">
                <a:solidFill>
                  <a:srgbClr val="92D050"/>
                </a:solidFill>
              </a:rPr>
              <a:t>Complete understanding</a:t>
            </a:r>
          </a:p>
          <a:p>
            <a:r>
              <a:rPr lang="en-US" dirty="0">
                <a:solidFill>
                  <a:srgbClr val="92D050"/>
                </a:solidFill>
              </a:rPr>
              <a:t>Fully applied and tested</a:t>
            </a:r>
          </a:p>
          <a:p>
            <a:r>
              <a:rPr lang="en-US" dirty="0">
                <a:solidFill>
                  <a:srgbClr val="92D050"/>
                </a:solidFill>
              </a:rPr>
              <a:t>Measurable, reproducible results</a:t>
            </a:r>
          </a:p>
          <a:p>
            <a:r>
              <a:rPr lang="en-US" dirty="0">
                <a:solidFill>
                  <a:srgbClr val="92D050"/>
                </a:solidFill>
              </a:rPr>
              <a:t>“Book </a:t>
            </a:r>
            <a:r>
              <a:rPr lang="en-US" dirty="0" err="1">
                <a:solidFill>
                  <a:srgbClr val="92D050"/>
                </a:solidFill>
              </a:rPr>
              <a:t>learnin</a:t>
            </a:r>
            <a:r>
              <a:rPr lang="en-US" dirty="0">
                <a:solidFill>
                  <a:srgbClr val="92D050"/>
                </a:solidFill>
              </a:rPr>
              <a:t>’”</a:t>
            </a:r>
          </a:p>
          <a:p>
            <a:endParaRPr lang="en-US" dirty="0"/>
          </a:p>
        </p:txBody>
      </p:sp>
      <p:sp>
        <p:nvSpPr>
          <p:cNvPr id="5" name="TextBox 4">
            <a:extLst>
              <a:ext uri="{FF2B5EF4-FFF2-40B4-BE49-F238E27FC236}">
                <a16:creationId xmlns:a16="http://schemas.microsoft.com/office/drawing/2014/main" id="{50207F07-9D50-AED2-799D-D173F6FBE129}"/>
              </a:ext>
            </a:extLst>
          </p:cNvPr>
          <p:cNvSpPr txBox="1"/>
          <p:nvPr/>
        </p:nvSpPr>
        <p:spPr>
          <a:xfrm>
            <a:off x="991881" y="4543726"/>
            <a:ext cx="9725491" cy="461665"/>
          </a:xfrm>
          <a:prstGeom prst="rect">
            <a:avLst/>
          </a:prstGeom>
          <a:noFill/>
        </p:spPr>
        <p:txBody>
          <a:bodyPr wrap="square" rtlCol="0">
            <a:spAutoFit/>
          </a:bodyPr>
          <a:lstStyle/>
          <a:p>
            <a:pPr algn="ctr"/>
            <a:r>
              <a:rPr lang="en-US" sz="2400" dirty="0">
                <a:solidFill>
                  <a:srgbClr val="92D050"/>
                </a:solidFill>
              </a:rPr>
              <a:t>&gt;&gt;&gt;  LLM Engineering needs to be grasped left to right  &gt;&gt;&gt;</a:t>
            </a:r>
          </a:p>
        </p:txBody>
      </p:sp>
      <p:pic>
        <p:nvPicPr>
          <p:cNvPr id="8" name="Picture 7" descr="A qr code with a white background&#10;&#10;AI-generated content may be incorrect.">
            <a:extLst>
              <a:ext uri="{FF2B5EF4-FFF2-40B4-BE49-F238E27FC236}">
                <a16:creationId xmlns:a16="http://schemas.microsoft.com/office/drawing/2014/main" id="{67DD9007-A648-2C85-AB77-F33237AF7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4335" y="5005391"/>
            <a:ext cx="1072153" cy="1072153"/>
          </a:xfrm>
          <a:prstGeom prst="rect">
            <a:avLst/>
          </a:prstGeom>
        </p:spPr>
      </p:pic>
    </p:spTree>
    <p:extLst>
      <p:ext uri="{BB962C8B-B14F-4D97-AF65-F5344CB8AC3E}">
        <p14:creationId xmlns:p14="http://schemas.microsoft.com/office/powerpoint/2010/main" val="3970027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46689-B74A-4329-1946-DB42366D2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C0CF8-1363-EA5D-899A-3CF2C78ED7D7}"/>
              </a:ext>
            </a:extLst>
          </p:cNvPr>
          <p:cNvSpPr>
            <a:spLocks noGrp="1"/>
          </p:cNvSpPr>
          <p:nvPr>
            <p:ph type="title"/>
          </p:nvPr>
        </p:nvSpPr>
        <p:spPr>
          <a:xfrm>
            <a:off x="1250623" y="1940350"/>
            <a:ext cx="9690754" cy="2359843"/>
          </a:xfrm>
        </p:spPr>
        <p:txBody>
          <a:bodyPr>
            <a:noAutofit/>
          </a:bodyPr>
          <a:lstStyle/>
          <a:p>
            <a:pPr algn="ctr"/>
            <a:r>
              <a:rPr lang="en-US" sz="5400" b="1" cap="none" dirty="0">
                <a:solidFill>
                  <a:srgbClr val="92D050"/>
                </a:solidFill>
                <a:latin typeface="+mn-lt"/>
              </a:rPr>
              <a:t>What is Context Engineering?</a:t>
            </a:r>
          </a:p>
        </p:txBody>
      </p:sp>
      <p:sp>
        <p:nvSpPr>
          <p:cNvPr id="3" name="TextBox 2">
            <a:extLst>
              <a:ext uri="{FF2B5EF4-FFF2-40B4-BE49-F238E27FC236}">
                <a16:creationId xmlns:a16="http://schemas.microsoft.com/office/drawing/2014/main" id="{F209E9B0-D574-C76D-FE1A-E830F4986A72}"/>
              </a:ext>
            </a:extLst>
          </p:cNvPr>
          <p:cNvSpPr txBox="1"/>
          <p:nvPr/>
        </p:nvSpPr>
        <p:spPr>
          <a:xfrm>
            <a:off x="2969443" y="3120272"/>
            <a:ext cx="2516957" cy="1456267"/>
          </a:xfrm>
          <a:prstGeom prst="rect">
            <a:avLst/>
          </a:prstGeom>
          <a:noFill/>
        </p:spPr>
        <p:txBody>
          <a:bodyPr wrap="square" rtlCol="0">
            <a:spAutoFit/>
          </a:bodyPr>
          <a:lstStyle/>
          <a:p>
            <a:endParaRPr lang="en-US"/>
          </a:p>
        </p:txBody>
      </p:sp>
      <p:pic>
        <p:nvPicPr>
          <p:cNvPr id="4" name="Picture 3" descr="A qr code with a white background&#10;&#10;AI-generated content may be incorrect.">
            <a:extLst>
              <a:ext uri="{FF2B5EF4-FFF2-40B4-BE49-F238E27FC236}">
                <a16:creationId xmlns:a16="http://schemas.microsoft.com/office/drawing/2014/main" id="{0F5D2A12-98CC-3F0C-6FA8-88250EC45B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1377" y="4920221"/>
            <a:ext cx="1072153" cy="1072153"/>
          </a:xfrm>
          <a:prstGeom prst="rect">
            <a:avLst/>
          </a:prstGeom>
        </p:spPr>
      </p:pic>
    </p:spTree>
    <p:extLst>
      <p:ext uri="{BB962C8B-B14F-4D97-AF65-F5344CB8AC3E}">
        <p14:creationId xmlns:p14="http://schemas.microsoft.com/office/powerpoint/2010/main" val="2250333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97DE8-E241-30AC-1EA9-7351269F17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3D41F1-860B-EA00-B725-107BD7454DC2}"/>
              </a:ext>
            </a:extLst>
          </p:cNvPr>
          <p:cNvSpPr>
            <a:spLocks noGrp="1"/>
          </p:cNvSpPr>
          <p:nvPr>
            <p:ph idx="1"/>
          </p:nvPr>
        </p:nvSpPr>
        <p:spPr>
          <a:xfrm>
            <a:off x="4318157" y="1366472"/>
            <a:ext cx="3555683" cy="1893730"/>
          </a:xfrm>
        </p:spPr>
        <p:txBody>
          <a:bodyPr/>
          <a:lstStyle/>
          <a:p>
            <a:pPr marL="0" indent="0" algn="ctr">
              <a:buNone/>
            </a:pPr>
            <a:r>
              <a:rPr lang="en-US" sz="2800" b="1" dirty="0">
                <a:solidFill>
                  <a:srgbClr val="92D050"/>
                </a:solidFill>
              </a:rPr>
              <a:t>Context Window</a:t>
            </a:r>
          </a:p>
          <a:p>
            <a:pPr marL="0" indent="0" algn="ctr">
              <a:buNone/>
            </a:pPr>
            <a:r>
              <a:rPr lang="en-US" dirty="0">
                <a:solidFill>
                  <a:srgbClr val="92D050"/>
                </a:solidFill>
              </a:rPr>
              <a:t>The container space for data retrieval, prompts and generative material in a session</a:t>
            </a:r>
          </a:p>
          <a:p>
            <a:endParaRPr lang="en-US" dirty="0"/>
          </a:p>
        </p:txBody>
      </p:sp>
      <p:sp>
        <p:nvSpPr>
          <p:cNvPr id="9" name="Content Placeholder 2">
            <a:extLst>
              <a:ext uri="{FF2B5EF4-FFF2-40B4-BE49-F238E27FC236}">
                <a16:creationId xmlns:a16="http://schemas.microsoft.com/office/drawing/2014/main" id="{2422B1F6-6207-556B-C27F-DBFE48EE00D3}"/>
              </a:ext>
            </a:extLst>
          </p:cNvPr>
          <p:cNvSpPr txBox="1">
            <a:spLocks/>
          </p:cNvSpPr>
          <p:nvPr/>
        </p:nvSpPr>
        <p:spPr>
          <a:xfrm>
            <a:off x="4318158" y="3723169"/>
            <a:ext cx="3555682" cy="2015326"/>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en-US" sz="2800" b="1" dirty="0">
                <a:solidFill>
                  <a:srgbClr val="92D050"/>
                </a:solidFill>
              </a:rPr>
              <a:t>Tokens</a:t>
            </a:r>
          </a:p>
          <a:p>
            <a:pPr marL="0" indent="0" algn="ctr">
              <a:buFont typeface="Arial"/>
              <a:buNone/>
            </a:pPr>
            <a:r>
              <a:rPr lang="en-US" dirty="0">
                <a:solidFill>
                  <a:srgbClr val="92D050"/>
                </a:solidFill>
              </a:rPr>
              <a:t>Units of data.  All Context data is converted to this form for processing.  These are stored as vector databases</a:t>
            </a:r>
          </a:p>
          <a:p>
            <a:endParaRPr lang="en-US" dirty="0"/>
          </a:p>
        </p:txBody>
      </p:sp>
      <p:sp>
        <p:nvSpPr>
          <p:cNvPr id="10" name="Content Placeholder 2">
            <a:extLst>
              <a:ext uri="{FF2B5EF4-FFF2-40B4-BE49-F238E27FC236}">
                <a16:creationId xmlns:a16="http://schemas.microsoft.com/office/drawing/2014/main" id="{ED8B2464-44BA-CEDA-E863-87B2018B956F}"/>
              </a:ext>
            </a:extLst>
          </p:cNvPr>
          <p:cNvSpPr txBox="1">
            <a:spLocks/>
          </p:cNvSpPr>
          <p:nvPr/>
        </p:nvSpPr>
        <p:spPr>
          <a:xfrm>
            <a:off x="7873840" y="2250651"/>
            <a:ext cx="3904215" cy="235669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en-US" sz="2800" b="1" dirty="0">
                <a:solidFill>
                  <a:srgbClr val="92D050"/>
                </a:solidFill>
              </a:rPr>
              <a:t>LLM Logical Processing</a:t>
            </a:r>
          </a:p>
          <a:p>
            <a:pPr marL="0" indent="0" algn="ctr">
              <a:buFont typeface="Arial"/>
              <a:buNone/>
            </a:pPr>
            <a:r>
              <a:rPr lang="en-US" dirty="0">
                <a:solidFill>
                  <a:srgbClr val="92D050"/>
                </a:solidFill>
              </a:rPr>
              <a:t>Predict the next token based on the confluence of the context window.</a:t>
            </a:r>
          </a:p>
          <a:p>
            <a:endParaRPr lang="en-US" dirty="0"/>
          </a:p>
        </p:txBody>
      </p:sp>
      <p:sp>
        <p:nvSpPr>
          <p:cNvPr id="11" name="Title 1">
            <a:extLst>
              <a:ext uri="{FF2B5EF4-FFF2-40B4-BE49-F238E27FC236}">
                <a16:creationId xmlns:a16="http://schemas.microsoft.com/office/drawing/2014/main" id="{C43F9C61-C674-536E-A390-D6C5B3AECA56}"/>
              </a:ext>
            </a:extLst>
          </p:cNvPr>
          <p:cNvSpPr>
            <a:spLocks noGrp="1"/>
          </p:cNvSpPr>
          <p:nvPr>
            <p:ph type="title"/>
          </p:nvPr>
        </p:nvSpPr>
        <p:spPr>
          <a:xfrm>
            <a:off x="1030287" y="275791"/>
            <a:ext cx="10131425" cy="804420"/>
          </a:xfrm>
        </p:spPr>
        <p:txBody>
          <a:bodyPr>
            <a:noAutofit/>
          </a:bodyPr>
          <a:lstStyle/>
          <a:p>
            <a:pPr algn="ctr"/>
            <a:r>
              <a:rPr lang="en-US" sz="4000" b="1" cap="none" dirty="0">
                <a:solidFill>
                  <a:srgbClr val="92D050"/>
                </a:solidFill>
              </a:rPr>
              <a:t>Basic LLM Comprehension</a:t>
            </a:r>
            <a:endParaRPr lang="en-US" sz="4000" dirty="0">
              <a:solidFill>
                <a:srgbClr val="92D050"/>
              </a:solidFill>
            </a:endParaRPr>
          </a:p>
        </p:txBody>
      </p:sp>
      <p:sp>
        <p:nvSpPr>
          <p:cNvPr id="12" name="Content Placeholder 2">
            <a:extLst>
              <a:ext uri="{FF2B5EF4-FFF2-40B4-BE49-F238E27FC236}">
                <a16:creationId xmlns:a16="http://schemas.microsoft.com/office/drawing/2014/main" id="{28E2EBF8-AB20-5B69-36FE-C3C7D9C1C6FB}"/>
              </a:ext>
            </a:extLst>
          </p:cNvPr>
          <p:cNvSpPr txBox="1">
            <a:spLocks/>
          </p:cNvSpPr>
          <p:nvPr/>
        </p:nvSpPr>
        <p:spPr>
          <a:xfrm>
            <a:off x="608499" y="2482134"/>
            <a:ext cx="3555683" cy="1893730"/>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en-US" sz="2800" b="1" dirty="0">
                <a:solidFill>
                  <a:srgbClr val="92D050"/>
                </a:solidFill>
              </a:rPr>
              <a:t>Native Training</a:t>
            </a:r>
          </a:p>
          <a:p>
            <a:pPr marL="0" indent="0" algn="ctr">
              <a:buFont typeface="Arial"/>
              <a:buNone/>
            </a:pPr>
            <a:r>
              <a:rPr lang="en-US" dirty="0">
                <a:solidFill>
                  <a:srgbClr val="92D050"/>
                </a:solidFill>
              </a:rPr>
              <a:t>External to the context window.  Part of the LLM model that you call.</a:t>
            </a:r>
          </a:p>
          <a:p>
            <a:endParaRPr lang="en-US" dirty="0"/>
          </a:p>
        </p:txBody>
      </p:sp>
      <p:pic>
        <p:nvPicPr>
          <p:cNvPr id="2" name="Picture 1" descr="A qr code with a white background&#10;&#10;AI-generated content may be incorrect.">
            <a:extLst>
              <a:ext uri="{FF2B5EF4-FFF2-40B4-BE49-F238E27FC236}">
                <a16:creationId xmlns:a16="http://schemas.microsoft.com/office/drawing/2014/main" id="{95271AD1-B38C-463D-65F7-E3283B9933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8881" y="5092343"/>
            <a:ext cx="1072153" cy="1072153"/>
          </a:xfrm>
          <a:prstGeom prst="rect">
            <a:avLst/>
          </a:prstGeom>
        </p:spPr>
      </p:pic>
    </p:spTree>
    <p:extLst>
      <p:ext uri="{BB962C8B-B14F-4D97-AF65-F5344CB8AC3E}">
        <p14:creationId xmlns:p14="http://schemas.microsoft.com/office/powerpoint/2010/main" val="181621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p:bldP spid="10"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C77924A-0363-3922-FF91-F253B31993B4}"/>
              </a:ext>
            </a:extLst>
          </p:cNvPr>
          <p:cNvGraphicFramePr>
            <a:graphicFrameLocks noGrp="1"/>
          </p:cNvGraphicFramePr>
          <p:nvPr>
            <p:extLst>
              <p:ext uri="{D42A27DB-BD31-4B8C-83A1-F6EECF244321}">
                <p14:modId xmlns:p14="http://schemas.microsoft.com/office/powerpoint/2010/main" val="2304753946"/>
              </p:ext>
            </p:extLst>
          </p:nvPr>
        </p:nvGraphicFramePr>
        <p:xfrm>
          <a:off x="1057072" y="1749624"/>
          <a:ext cx="10077855" cy="3358752"/>
        </p:xfrm>
        <a:graphic>
          <a:graphicData uri="http://schemas.openxmlformats.org/drawingml/2006/table">
            <a:tbl>
              <a:tblPr/>
              <a:tblGrid>
                <a:gridCol w="2015571">
                  <a:extLst>
                    <a:ext uri="{9D8B030D-6E8A-4147-A177-3AD203B41FA5}">
                      <a16:colId xmlns:a16="http://schemas.microsoft.com/office/drawing/2014/main" val="991121529"/>
                    </a:ext>
                  </a:extLst>
                </a:gridCol>
                <a:gridCol w="2015571">
                  <a:extLst>
                    <a:ext uri="{9D8B030D-6E8A-4147-A177-3AD203B41FA5}">
                      <a16:colId xmlns:a16="http://schemas.microsoft.com/office/drawing/2014/main" val="1821390092"/>
                    </a:ext>
                  </a:extLst>
                </a:gridCol>
                <a:gridCol w="2015571">
                  <a:extLst>
                    <a:ext uri="{9D8B030D-6E8A-4147-A177-3AD203B41FA5}">
                      <a16:colId xmlns:a16="http://schemas.microsoft.com/office/drawing/2014/main" val="3710941181"/>
                    </a:ext>
                  </a:extLst>
                </a:gridCol>
                <a:gridCol w="2015571">
                  <a:extLst>
                    <a:ext uri="{9D8B030D-6E8A-4147-A177-3AD203B41FA5}">
                      <a16:colId xmlns:a16="http://schemas.microsoft.com/office/drawing/2014/main" val="707759906"/>
                    </a:ext>
                  </a:extLst>
                </a:gridCol>
                <a:gridCol w="2015571">
                  <a:extLst>
                    <a:ext uri="{9D8B030D-6E8A-4147-A177-3AD203B41FA5}">
                      <a16:colId xmlns:a16="http://schemas.microsoft.com/office/drawing/2014/main" val="2727213280"/>
                    </a:ext>
                  </a:extLst>
                </a:gridCol>
              </a:tblGrid>
              <a:tr h="345754">
                <a:tc>
                  <a:txBody>
                    <a:bodyPr/>
                    <a:lstStyle/>
                    <a:p>
                      <a:pPr algn="l">
                        <a:buNone/>
                      </a:pPr>
                      <a:r>
                        <a:rPr lang="en-US" sz="1100" b="1" dirty="0">
                          <a:solidFill>
                            <a:srgbClr val="0F172A"/>
                          </a:solidFill>
                          <a:effectLst/>
                        </a:rPr>
                        <a:t>Tokens</a:t>
                      </a:r>
                    </a:p>
                  </a:txBody>
                  <a:tcPr marL="53671" marR="53671" marT="26836" marB="26836" anchor="ctr">
                    <a:lnL>
                      <a:noFill/>
                    </a:lnL>
                    <a:lnR>
                      <a:noFill/>
                    </a:lnR>
                    <a:lnT>
                      <a:noFill/>
                    </a:lnT>
                    <a:lnB>
                      <a:noFill/>
                    </a:lnB>
                    <a:solidFill>
                      <a:srgbClr val="2EADC9"/>
                    </a:solidFill>
                  </a:tcPr>
                </a:tc>
                <a:tc>
                  <a:txBody>
                    <a:bodyPr/>
                    <a:lstStyle/>
                    <a:p>
                      <a:pPr algn="l">
                        <a:buNone/>
                      </a:pPr>
                      <a:r>
                        <a:rPr lang="en-US" sz="1100" b="1" dirty="0">
                          <a:solidFill>
                            <a:srgbClr val="0F172A"/>
                          </a:solidFill>
                          <a:effectLst/>
                        </a:rPr>
                        <a:t>Approx Words</a:t>
                      </a:r>
                    </a:p>
                  </a:txBody>
                  <a:tcPr marL="53671" marR="53671" marT="26836" marB="26836" anchor="ctr">
                    <a:lnL>
                      <a:noFill/>
                    </a:lnL>
                    <a:lnR>
                      <a:noFill/>
                    </a:lnR>
                    <a:lnT>
                      <a:noFill/>
                    </a:lnT>
                    <a:lnB>
                      <a:noFill/>
                    </a:lnB>
                    <a:solidFill>
                      <a:srgbClr val="2EADC9"/>
                    </a:solidFill>
                  </a:tcPr>
                </a:tc>
                <a:tc>
                  <a:txBody>
                    <a:bodyPr/>
                    <a:lstStyle/>
                    <a:p>
                      <a:pPr algn="l">
                        <a:buNone/>
                      </a:pPr>
                      <a:r>
                        <a:rPr lang="en-US" sz="1100" b="1" dirty="0">
                          <a:solidFill>
                            <a:srgbClr val="0F172A"/>
                          </a:solidFill>
                          <a:effectLst/>
                        </a:rPr>
                        <a:t>Approx Pages</a:t>
                      </a:r>
                    </a:p>
                  </a:txBody>
                  <a:tcPr marL="53671" marR="53671" marT="26836" marB="26836" anchor="ctr">
                    <a:lnL>
                      <a:noFill/>
                    </a:lnL>
                    <a:lnR>
                      <a:noFill/>
                    </a:lnR>
                    <a:lnT>
                      <a:noFill/>
                    </a:lnT>
                    <a:lnB>
                      <a:noFill/>
                    </a:lnB>
                    <a:solidFill>
                      <a:srgbClr val="2EADC9"/>
                    </a:solidFill>
                  </a:tcPr>
                </a:tc>
                <a:tc>
                  <a:txBody>
                    <a:bodyPr/>
                    <a:lstStyle/>
                    <a:p>
                      <a:pPr algn="l">
                        <a:buNone/>
                      </a:pPr>
                      <a:r>
                        <a:rPr lang="en-US" sz="1100" b="1">
                          <a:solidFill>
                            <a:srgbClr val="0F172A"/>
                          </a:solidFill>
                          <a:effectLst/>
                        </a:rPr>
                        <a:t>Real-World Equivalent</a:t>
                      </a:r>
                    </a:p>
                  </a:txBody>
                  <a:tcPr marL="53671" marR="53671" marT="26836" marB="26836" anchor="ctr">
                    <a:lnL>
                      <a:noFill/>
                    </a:lnL>
                    <a:lnR>
                      <a:noFill/>
                    </a:lnR>
                    <a:lnT>
                      <a:noFill/>
                    </a:lnT>
                    <a:lnB>
                      <a:noFill/>
                    </a:lnB>
                    <a:solidFill>
                      <a:srgbClr val="2EADC9"/>
                    </a:solidFill>
                  </a:tcPr>
                </a:tc>
                <a:tc>
                  <a:txBody>
                    <a:bodyPr/>
                    <a:lstStyle/>
                    <a:p>
                      <a:pPr algn="l">
                        <a:buNone/>
                      </a:pPr>
                      <a:r>
                        <a:rPr lang="en-US" sz="1100" b="1" dirty="0">
                          <a:solidFill>
                            <a:srgbClr val="0F172A"/>
                          </a:solidFill>
                          <a:effectLst/>
                        </a:rPr>
                        <a:t>Use Case</a:t>
                      </a:r>
                    </a:p>
                  </a:txBody>
                  <a:tcPr marL="53671" marR="53671" marT="26836" marB="26836" anchor="ctr">
                    <a:lnL>
                      <a:noFill/>
                    </a:lnL>
                    <a:lnR>
                      <a:noFill/>
                    </a:lnR>
                    <a:lnT>
                      <a:noFill/>
                    </a:lnT>
                    <a:lnB>
                      <a:noFill/>
                    </a:lnB>
                    <a:solidFill>
                      <a:srgbClr val="2EADC9"/>
                    </a:solidFill>
                  </a:tcPr>
                </a:tc>
                <a:extLst>
                  <a:ext uri="{0D108BD9-81ED-4DB2-BD59-A6C34878D82A}">
                    <a16:rowId xmlns:a16="http://schemas.microsoft.com/office/drawing/2014/main" val="3502540263"/>
                  </a:ext>
                </a:extLst>
              </a:tr>
              <a:tr h="345754">
                <a:tc>
                  <a:txBody>
                    <a:bodyPr/>
                    <a:lstStyle/>
                    <a:p>
                      <a:pPr>
                        <a:buNone/>
                      </a:pPr>
                      <a:r>
                        <a:rPr lang="en-US" sz="1100" b="1" dirty="0">
                          <a:solidFill>
                            <a:srgbClr val="38BDF8"/>
                          </a:solidFill>
                          <a:effectLst/>
                        </a:rPr>
                        <a:t>1,000</a:t>
                      </a:r>
                      <a:endParaRPr lang="en-US" sz="1100" dirty="0">
                        <a:effectLst/>
                      </a:endParaRPr>
                    </a:p>
                  </a:txBody>
                  <a:tcPr marL="53671" marR="53671" marT="26836" marB="26836"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~750</a:t>
                      </a:r>
                    </a:p>
                  </a:txBody>
                  <a:tcPr marL="53671" marR="53671" marT="26836" marB="26836"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~2–3</a:t>
                      </a:r>
                    </a:p>
                  </a:txBody>
                  <a:tcPr marL="53671" marR="53671" marT="26836" marB="26836"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Short article</a:t>
                      </a:r>
                    </a:p>
                  </a:txBody>
                  <a:tcPr marL="53671" marR="53671" marT="26836" marB="26836"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Quick Q&amp;A, summaries</a:t>
                      </a:r>
                    </a:p>
                  </a:txBody>
                  <a:tcPr marL="53671" marR="53671" marT="26836" marB="26836"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4163959022"/>
                  </a:ext>
                </a:extLst>
              </a:tr>
              <a:tr h="345754">
                <a:tc>
                  <a:txBody>
                    <a:bodyPr/>
                    <a:lstStyle/>
                    <a:p>
                      <a:pPr>
                        <a:buNone/>
                      </a:pPr>
                      <a:r>
                        <a:rPr lang="en-US" sz="1100" b="1">
                          <a:solidFill>
                            <a:srgbClr val="38BDF8"/>
                          </a:solidFill>
                          <a:effectLst/>
                        </a:rPr>
                        <a:t>8,000</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~6,000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~10–15</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Research paper</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Perplexity standard input</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4278580180"/>
                  </a:ext>
                </a:extLst>
              </a:tr>
              <a:tr h="493934">
                <a:tc>
                  <a:txBody>
                    <a:bodyPr/>
                    <a:lstStyle/>
                    <a:p>
                      <a:pPr>
                        <a:buNone/>
                      </a:pPr>
                      <a:r>
                        <a:rPr lang="en-US" sz="1100" b="1">
                          <a:solidFill>
                            <a:srgbClr val="38BDF8"/>
                          </a:solidFill>
                          <a:effectLst/>
                        </a:rPr>
                        <a:t>50,000</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~37,500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~125–150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Long technical report</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Multi-document analysis</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085322454"/>
                  </a:ext>
                </a:extLst>
              </a:tr>
              <a:tr h="345754">
                <a:tc>
                  <a:txBody>
                    <a:bodyPr/>
                    <a:lstStyle/>
                    <a:p>
                      <a:pPr>
                        <a:buNone/>
                      </a:pPr>
                      <a:r>
                        <a:rPr lang="en-US" sz="1100" b="1">
                          <a:solidFill>
                            <a:srgbClr val="38BDF8"/>
                          </a:solidFill>
                          <a:effectLst/>
                        </a:rPr>
                        <a:t>100,000</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~75,000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~250–300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Large textbook</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Comprehensive analysis</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843834165"/>
                  </a:ext>
                </a:extLst>
              </a:tr>
              <a:tr h="493934">
                <a:tc>
                  <a:txBody>
                    <a:bodyPr/>
                    <a:lstStyle/>
                    <a:p>
                      <a:pPr>
                        <a:buNone/>
                      </a:pPr>
                      <a:r>
                        <a:rPr lang="en-US" sz="1100" b="1">
                          <a:solidFill>
                            <a:srgbClr val="38BDF8"/>
                          </a:solidFill>
                          <a:effectLst/>
                        </a:rPr>
                        <a:t>200,000</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~150,000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~500–600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Short book</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Claude 3.5 Sonnet standard</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890588542"/>
                  </a:ext>
                </a:extLst>
              </a:tr>
              <a:tr h="493934">
                <a:tc>
                  <a:txBody>
                    <a:bodyPr/>
                    <a:lstStyle/>
                    <a:p>
                      <a:pPr>
                        <a:buNone/>
                      </a:pPr>
                      <a:r>
                        <a:rPr lang="en-US" sz="1100" b="1">
                          <a:solidFill>
                            <a:srgbClr val="38BDF8"/>
                          </a:solidFill>
                          <a:effectLst/>
                        </a:rPr>
                        <a:t>1,000,000</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~750,000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~2,500–3,000</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Entire encyclopedia</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Frontier models; codebase</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712904034"/>
                  </a:ext>
                </a:extLst>
              </a:tr>
              <a:tr h="493934">
                <a:tc>
                  <a:txBody>
                    <a:bodyPr/>
                    <a:lstStyle/>
                    <a:p>
                      <a:pPr>
                        <a:buNone/>
                      </a:pPr>
                      <a:r>
                        <a:rPr lang="en-US" sz="1100" b="1">
                          <a:solidFill>
                            <a:srgbClr val="38BDF8"/>
                          </a:solidFill>
                          <a:effectLst/>
                        </a:rPr>
                        <a:t>100M+</a:t>
                      </a:r>
                      <a:endParaRPr lang="en-US" sz="1100">
                        <a:effectLst/>
                      </a:endParaRP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~75M+</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~250K+</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Research library</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Extended context models</a:t>
                      </a:r>
                    </a:p>
                  </a:txBody>
                  <a:tcPr marL="53671" marR="53671" marT="26836" marB="26836"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61982329"/>
                  </a:ext>
                </a:extLst>
              </a:tr>
            </a:tbl>
          </a:graphicData>
        </a:graphic>
      </p:graphicFrame>
      <p:sp>
        <p:nvSpPr>
          <p:cNvPr id="3" name="Title 1">
            <a:extLst>
              <a:ext uri="{FF2B5EF4-FFF2-40B4-BE49-F238E27FC236}">
                <a16:creationId xmlns:a16="http://schemas.microsoft.com/office/drawing/2014/main" id="{1D4C0644-62FF-EAE3-E77F-062E7C05A311}"/>
              </a:ext>
            </a:extLst>
          </p:cNvPr>
          <p:cNvSpPr txBox="1">
            <a:spLocks/>
          </p:cNvSpPr>
          <p:nvPr/>
        </p:nvSpPr>
        <p:spPr>
          <a:xfrm>
            <a:off x="1030286" y="489799"/>
            <a:ext cx="10131425" cy="804420"/>
          </a:xfrm>
          <a:prstGeom prst="rect">
            <a:avLst/>
          </a:prstGeom>
        </p:spPr>
        <p:txBody>
          <a:bodyP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1" cap="none" dirty="0">
                <a:solidFill>
                  <a:srgbClr val="92D050"/>
                </a:solidFill>
              </a:rPr>
              <a:t>Token To Document Conversion</a:t>
            </a:r>
            <a:endParaRPr lang="en-US" sz="4000" dirty="0">
              <a:solidFill>
                <a:srgbClr val="92D050"/>
              </a:solidFill>
            </a:endParaRPr>
          </a:p>
        </p:txBody>
      </p:sp>
    </p:spTree>
    <p:extLst>
      <p:ext uri="{BB962C8B-B14F-4D97-AF65-F5344CB8AC3E}">
        <p14:creationId xmlns:p14="http://schemas.microsoft.com/office/powerpoint/2010/main" val="1969490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E1CB7-DB1E-C986-3E24-55CE7068E56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49BA87B-8AD9-6FF9-F9D2-7B2A5C81905C}"/>
              </a:ext>
            </a:extLst>
          </p:cNvPr>
          <p:cNvSpPr txBox="1">
            <a:spLocks/>
          </p:cNvSpPr>
          <p:nvPr/>
        </p:nvSpPr>
        <p:spPr>
          <a:xfrm>
            <a:off x="1030287" y="553040"/>
            <a:ext cx="10131425" cy="936396"/>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400" b="1" kern="1200" cap="none" dirty="0">
                <a:ln w="3175" cmpd="sng">
                  <a:noFill/>
                </a:ln>
                <a:solidFill>
                  <a:srgbClr val="92D050"/>
                </a:solidFill>
                <a:effectLst/>
                <a:latin typeface="+mj-lt"/>
                <a:ea typeface="+mj-ea"/>
                <a:cs typeface="+mj-cs"/>
              </a:rPr>
              <a:t>LLM Context Window By Model</a:t>
            </a:r>
          </a:p>
        </p:txBody>
      </p:sp>
      <p:graphicFrame>
        <p:nvGraphicFramePr>
          <p:cNvPr id="8" name="Table 7">
            <a:extLst>
              <a:ext uri="{FF2B5EF4-FFF2-40B4-BE49-F238E27FC236}">
                <a16:creationId xmlns:a16="http://schemas.microsoft.com/office/drawing/2014/main" id="{4D92BE26-7525-1BF8-B8A3-3E62516EB26A}"/>
              </a:ext>
            </a:extLst>
          </p:cNvPr>
          <p:cNvGraphicFramePr>
            <a:graphicFrameLocks noGrp="1"/>
          </p:cNvGraphicFramePr>
          <p:nvPr>
            <p:extLst>
              <p:ext uri="{D42A27DB-BD31-4B8C-83A1-F6EECF244321}">
                <p14:modId xmlns:p14="http://schemas.microsoft.com/office/powerpoint/2010/main" val="1933259544"/>
              </p:ext>
            </p:extLst>
          </p:nvPr>
        </p:nvGraphicFramePr>
        <p:xfrm>
          <a:off x="1030286" y="1707649"/>
          <a:ext cx="10131425" cy="3791326"/>
        </p:xfrm>
        <a:graphic>
          <a:graphicData uri="http://schemas.openxmlformats.org/drawingml/2006/table">
            <a:tbl>
              <a:tblPr firstRow="1" bandRow="1"/>
              <a:tblGrid>
                <a:gridCol w="1375688">
                  <a:extLst>
                    <a:ext uri="{9D8B030D-6E8A-4147-A177-3AD203B41FA5}">
                      <a16:colId xmlns:a16="http://schemas.microsoft.com/office/drawing/2014/main" val="1902285936"/>
                    </a:ext>
                  </a:extLst>
                </a:gridCol>
                <a:gridCol w="1015792">
                  <a:extLst>
                    <a:ext uri="{9D8B030D-6E8A-4147-A177-3AD203B41FA5}">
                      <a16:colId xmlns:a16="http://schemas.microsoft.com/office/drawing/2014/main" val="4094343017"/>
                    </a:ext>
                  </a:extLst>
                </a:gridCol>
                <a:gridCol w="1908573">
                  <a:extLst>
                    <a:ext uri="{9D8B030D-6E8A-4147-A177-3AD203B41FA5}">
                      <a16:colId xmlns:a16="http://schemas.microsoft.com/office/drawing/2014/main" val="3109062076"/>
                    </a:ext>
                  </a:extLst>
                </a:gridCol>
                <a:gridCol w="2582632">
                  <a:extLst>
                    <a:ext uri="{9D8B030D-6E8A-4147-A177-3AD203B41FA5}">
                      <a16:colId xmlns:a16="http://schemas.microsoft.com/office/drawing/2014/main" val="4140981281"/>
                    </a:ext>
                  </a:extLst>
                </a:gridCol>
                <a:gridCol w="3248740">
                  <a:extLst>
                    <a:ext uri="{9D8B030D-6E8A-4147-A177-3AD203B41FA5}">
                      <a16:colId xmlns:a16="http://schemas.microsoft.com/office/drawing/2014/main" val="2535810295"/>
                    </a:ext>
                  </a:extLst>
                </a:gridCol>
              </a:tblGrid>
              <a:tr h="224759">
                <a:tc>
                  <a:txBody>
                    <a:bodyPr/>
                    <a:lstStyle/>
                    <a:p>
                      <a:pPr algn="l">
                        <a:buNone/>
                      </a:pPr>
                      <a:r>
                        <a:rPr lang="en-US" sz="1000" b="1">
                          <a:solidFill>
                            <a:srgbClr val="0F172A"/>
                          </a:solidFill>
                          <a:effectLst/>
                        </a:rPr>
                        <a:t>Model</a:t>
                      </a:r>
                    </a:p>
                  </a:txBody>
                  <a:tcPr marL="23968" marR="23968" marT="11984" marB="11984" anchor="ctr">
                    <a:lnL>
                      <a:noFill/>
                    </a:lnL>
                    <a:lnR>
                      <a:noFill/>
                    </a:lnR>
                    <a:lnT>
                      <a:noFill/>
                    </a:lnT>
                    <a:lnB>
                      <a:noFill/>
                    </a:lnB>
                    <a:solidFill>
                      <a:srgbClr val="38BDF8"/>
                    </a:solidFill>
                  </a:tcPr>
                </a:tc>
                <a:tc>
                  <a:txBody>
                    <a:bodyPr/>
                    <a:lstStyle/>
                    <a:p>
                      <a:pPr algn="l">
                        <a:buNone/>
                      </a:pPr>
                      <a:r>
                        <a:rPr lang="en-US" sz="1000" b="1">
                          <a:solidFill>
                            <a:srgbClr val="0F172A"/>
                          </a:solidFill>
                          <a:effectLst/>
                        </a:rPr>
                        <a:t>Developer</a:t>
                      </a:r>
                    </a:p>
                  </a:txBody>
                  <a:tcPr marL="23968" marR="23968" marT="11984" marB="11984" anchor="ctr">
                    <a:lnL>
                      <a:noFill/>
                    </a:lnL>
                    <a:lnR>
                      <a:noFill/>
                    </a:lnR>
                    <a:lnT>
                      <a:noFill/>
                    </a:lnT>
                    <a:lnB>
                      <a:noFill/>
                    </a:lnB>
                    <a:solidFill>
                      <a:srgbClr val="38BDF8"/>
                    </a:solidFill>
                  </a:tcPr>
                </a:tc>
                <a:tc>
                  <a:txBody>
                    <a:bodyPr/>
                    <a:lstStyle/>
                    <a:p>
                      <a:pPr algn="l">
                        <a:buNone/>
                      </a:pPr>
                      <a:r>
                        <a:rPr lang="en-US" sz="1000" b="1">
                          <a:solidFill>
                            <a:srgbClr val="0F172A"/>
                          </a:solidFill>
                          <a:effectLst/>
                        </a:rPr>
                        <a:t>Context Window</a:t>
                      </a:r>
                    </a:p>
                  </a:txBody>
                  <a:tcPr marL="23968" marR="23968" marT="11984" marB="11984" anchor="ctr">
                    <a:lnL>
                      <a:noFill/>
                    </a:lnL>
                    <a:lnR>
                      <a:noFill/>
                    </a:lnR>
                    <a:lnT>
                      <a:noFill/>
                    </a:lnT>
                    <a:lnB>
                      <a:noFill/>
                    </a:lnB>
                    <a:solidFill>
                      <a:srgbClr val="38BDF8"/>
                    </a:solidFill>
                  </a:tcPr>
                </a:tc>
                <a:tc>
                  <a:txBody>
                    <a:bodyPr/>
                    <a:lstStyle/>
                    <a:p>
                      <a:pPr algn="l">
                        <a:buNone/>
                      </a:pPr>
                      <a:r>
                        <a:rPr lang="en-US" sz="1000" b="1" dirty="0">
                          <a:solidFill>
                            <a:srgbClr val="0F172A"/>
                          </a:solidFill>
                          <a:effectLst/>
                        </a:rPr>
                        <a:t>Approximate Pages</a:t>
                      </a:r>
                    </a:p>
                  </a:txBody>
                  <a:tcPr marL="23968" marR="23968" marT="11984" marB="11984" anchor="ctr">
                    <a:lnL>
                      <a:noFill/>
                    </a:lnL>
                    <a:lnR>
                      <a:noFill/>
                    </a:lnR>
                    <a:lnT>
                      <a:noFill/>
                    </a:lnT>
                    <a:lnB>
                      <a:noFill/>
                    </a:lnB>
                    <a:solidFill>
                      <a:srgbClr val="38BDF8"/>
                    </a:solidFill>
                  </a:tcPr>
                </a:tc>
                <a:tc>
                  <a:txBody>
                    <a:bodyPr/>
                    <a:lstStyle/>
                    <a:p>
                      <a:pPr algn="l">
                        <a:buNone/>
                      </a:pPr>
                      <a:r>
                        <a:rPr lang="en-US" sz="1000" b="1">
                          <a:solidFill>
                            <a:srgbClr val="0F172A"/>
                          </a:solidFill>
                          <a:effectLst/>
                        </a:rPr>
                        <a:t>Best Use Case</a:t>
                      </a:r>
                    </a:p>
                  </a:txBody>
                  <a:tcPr marL="23968" marR="23968" marT="11984" marB="11984" anchor="ctr">
                    <a:lnL>
                      <a:noFill/>
                    </a:lnL>
                    <a:lnR>
                      <a:noFill/>
                    </a:lnR>
                    <a:lnT>
                      <a:noFill/>
                    </a:lnT>
                    <a:lnB>
                      <a:noFill/>
                    </a:lnB>
                    <a:solidFill>
                      <a:srgbClr val="38BDF8"/>
                    </a:solidFill>
                  </a:tcPr>
                </a:tc>
                <a:extLst>
                  <a:ext uri="{0D108BD9-81ED-4DB2-BD59-A6C34878D82A}">
                    <a16:rowId xmlns:a16="http://schemas.microsoft.com/office/drawing/2014/main" val="3164002705"/>
                  </a:ext>
                </a:extLst>
              </a:tr>
              <a:tr h="385934">
                <a:tc>
                  <a:txBody>
                    <a:bodyPr/>
                    <a:lstStyle/>
                    <a:p>
                      <a:pPr>
                        <a:buNone/>
                      </a:pPr>
                      <a:r>
                        <a:rPr lang="en-US" sz="1000" b="1">
                          <a:solidFill>
                            <a:srgbClr val="38BDF8"/>
                          </a:solidFill>
                          <a:effectLst/>
                        </a:rPr>
                        <a:t>Claude 3.5 Sonnet</a:t>
                      </a:r>
                      <a:endParaRPr lang="en-US" sz="1000">
                        <a:effectLst/>
                      </a:endParaRPr>
                    </a:p>
                  </a:txBody>
                  <a:tcPr marL="23968" marR="23968" marT="11984" marB="11984"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Anthropic</a:t>
                      </a:r>
                    </a:p>
                  </a:txBody>
                  <a:tcPr marL="23968" marR="23968" marT="11984" marB="11984"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200,000 tokens</a:t>
                      </a:r>
                    </a:p>
                  </a:txBody>
                  <a:tcPr marL="23968" marR="23968" marT="11984" marB="11984"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~500–600</a:t>
                      </a:r>
                    </a:p>
                  </a:txBody>
                  <a:tcPr marL="23968" marR="23968" marT="11984" marB="11984"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Long-context reasoning, documents</a:t>
                      </a:r>
                    </a:p>
                  </a:txBody>
                  <a:tcPr marL="23968" marR="23968" marT="11984" marB="11984"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407391339"/>
                  </a:ext>
                </a:extLst>
              </a:tr>
              <a:tr h="224759">
                <a:tc>
                  <a:txBody>
                    <a:bodyPr/>
                    <a:lstStyle/>
                    <a:p>
                      <a:pPr>
                        <a:buNone/>
                      </a:pPr>
                      <a:r>
                        <a:rPr lang="en-US" sz="1000" b="1">
                          <a:solidFill>
                            <a:srgbClr val="38BDF8"/>
                          </a:solidFill>
                          <a:effectLst/>
                        </a:rPr>
                        <a:t>Claude Sonnet 4</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Anthropic</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1,000,000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~2,500–3,000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Multi-document analysis, codebase</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2913674901"/>
                  </a:ext>
                </a:extLst>
              </a:tr>
              <a:tr h="224759">
                <a:tc>
                  <a:txBody>
                    <a:bodyPr/>
                    <a:lstStyle/>
                    <a:p>
                      <a:pPr>
                        <a:buNone/>
                      </a:pPr>
                      <a:r>
                        <a:rPr lang="en-US" sz="1000" b="1">
                          <a:solidFill>
                            <a:srgbClr val="38BDF8"/>
                          </a:solidFill>
                          <a:effectLst/>
                        </a:rPr>
                        <a:t>GPT-4 Turbo</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OpenAI</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128,000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~300–400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dirty="0">
                          <a:effectLst/>
                        </a:rPr>
                        <a:t>Complex reasoning, moderate context</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3889282839"/>
                  </a:ext>
                </a:extLst>
              </a:tr>
              <a:tr h="224759">
                <a:tc>
                  <a:txBody>
                    <a:bodyPr/>
                    <a:lstStyle/>
                    <a:p>
                      <a:pPr>
                        <a:buNone/>
                      </a:pPr>
                      <a:r>
                        <a:rPr lang="en-US" sz="1000" b="1">
                          <a:solidFill>
                            <a:srgbClr val="38BDF8"/>
                          </a:solidFill>
                          <a:effectLst/>
                        </a:rPr>
                        <a:t>GPT-5</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OpenAI</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400,000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~1,000–1,300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Advanced reasoning, research</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2433174114"/>
                  </a:ext>
                </a:extLst>
              </a:tr>
              <a:tr h="224759">
                <a:tc>
                  <a:txBody>
                    <a:bodyPr/>
                    <a:lstStyle/>
                    <a:p>
                      <a:pPr>
                        <a:buNone/>
                      </a:pPr>
                      <a:r>
                        <a:rPr lang="en-US" sz="1000" b="1">
                          <a:solidFill>
                            <a:srgbClr val="38BDF8"/>
                          </a:solidFill>
                          <a:effectLst/>
                        </a:rPr>
                        <a:t>Gemini 1.5 Pro</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Google</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1,000,000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~2,500–3,000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Multimodal, long video/audio</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754558086"/>
                  </a:ext>
                </a:extLst>
              </a:tr>
              <a:tr h="224759">
                <a:tc>
                  <a:txBody>
                    <a:bodyPr/>
                    <a:lstStyle/>
                    <a:p>
                      <a:pPr>
                        <a:buNone/>
                      </a:pPr>
                      <a:r>
                        <a:rPr lang="en-US" sz="1000" b="1">
                          <a:solidFill>
                            <a:srgbClr val="38BDF8"/>
                          </a:solidFill>
                          <a:effectLst/>
                        </a:rPr>
                        <a:t>Gemini 2.5 Pro</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Google</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1,000,000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~2,500–3,000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Advanced multimodal tasks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834188149"/>
                  </a:ext>
                </a:extLst>
              </a:tr>
              <a:tr h="224759">
                <a:tc>
                  <a:txBody>
                    <a:bodyPr/>
                    <a:lstStyle/>
                    <a:p>
                      <a:pPr>
                        <a:buNone/>
                      </a:pPr>
                      <a:r>
                        <a:rPr lang="en-US" sz="1000" b="1" dirty="0">
                          <a:solidFill>
                            <a:srgbClr val="38BDF8"/>
                          </a:solidFill>
                          <a:effectLst/>
                        </a:rPr>
                        <a:t>Llama 3.1</a:t>
                      </a:r>
                      <a:endParaRPr lang="en-US" sz="1000" dirty="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Meta</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128,000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~300–400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Open-source, on-device deployment</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133029405"/>
                  </a:ext>
                </a:extLst>
              </a:tr>
              <a:tr h="224759">
                <a:tc>
                  <a:txBody>
                    <a:bodyPr/>
                    <a:lstStyle/>
                    <a:p>
                      <a:pPr>
                        <a:buNone/>
                      </a:pPr>
                      <a:r>
                        <a:rPr lang="en-US" sz="1000" b="1">
                          <a:solidFill>
                            <a:srgbClr val="38BDF8"/>
                          </a:solidFill>
                          <a:effectLst/>
                        </a:rPr>
                        <a:t>Llama 4 Scout</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Meta</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10,000,000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~25,000–30,000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Massive codebase, full book analysis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1681541493"/>
                  </a:ext>
                </a:extLst>
              </a:tr>
              <a:tr h="385934">
                <a:tc>
                  <a:txBody>
                    <a:bodyPr/>
                    <a:lstStyle/>
                    <a:p>
                      <a:pPr>
                        <a:buNone/>
                      </a:pPr>
                      <a:r>
                        <a:rPr lang="en-US" sz="1000" b="1">
                          <a:solidFill>
                            <a:srgbClr val="38BDF8"/>
                          </a:solidFill>
                          <a:effectLst/>
                        </a:rPr>
                        <a:t>Claude Opus 4.5</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Anthropic</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200,000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~500–600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Advanced reasoning, multi-document analysis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100518888"/>
                  </a:ext>
                </a:extLst>
              </a:tr>
              <a:tr h="224759">
                <a:tc>
                  <a:txBody>
                    <a:bodyPr/>
                    <a:lstStyle/>
                    <a:p>
                      <a:pPr>
                        <a:buNone/>
                      </a:pPr>
                      <a:r>
                        <a:rPr lang="en-US" sz="1000" b="1">
                          <a:solidFill>
                            <a:srgbClr val="38BDF8"/>
                          </a:solidFill>
                          <a:effectLst/>
                        </a:rPr>
                        <a:t>Kimi K2</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Moonshot AI</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256,000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~600–750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Agentic coding, long-horizon tasks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965107569"/>
                  </a:ext>
                </a:extLst>
              </a:tr>
              <a:tr h="224759">
                <a:tc>
                  <a:txBody>
                    <a:bodyPr/>
                    <a:lstStyle/>
                    <a:p>
                      <a:pPr>
                        <a:buNone/>
                      </a:pPr>
                      <a:r>
                        <a:rPr lang="en-US" sz="1000" b="1">
                          <a:solidFill>
                            <a:srgbClr val="38BDF8"/>
                          </a:solidFill>
                          <a:effectLst/>
                        </a:rPr>
                        <a:t>Grok 4.1 Fast</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xAI</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2,000,000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~5,000–6,000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Tool calling, agentic reasoning</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875666214"/>
                  </a:ext>
                </a:extLst>
              </a:tr>
              <a:tr h="385934">
                <a:tc>
                  <a:txBody>
                    <a:bodyPr/>
                    <a:lstStyle/>
                    <a:p>
                      <a:pPr>
                        <a:buNone/>
                      </a:pPr>
                      <a:r>
                        <a:rPr lang="en-US" sz="1000" b="1">
                          <a:solidFill>
                            <a:srgbClr val="38BDF8"/>
                          </a:solidFill>
                          <a:effectLst/>
                        </a:rPr>
                        <a:t>Claude Sonnet 4.5</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Anthropic</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200,000–1,000,000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~500–600 (standard) to ~2.5M (beta)</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000">
                          <a:effectLst/>
                        </a:rPr>
                        <a:t>General-purpose, flexible context</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364129379"/>
                  </a:ext>
                </a:extLst>
              </a:tr>
              <a:tr h="385934">
                <a:tc>
                  <a:txBody>
                    <a:bodyPr/>
                    <a:lstStyle/>
                    <a:p>
                      <a:pPr>
                        <a:buNone/>
                      </a:pPr>
                      <a:r>
                        <a:rPr lang="en-US" sz="1000" b="1">
                          <a:solidFill>
                            <a:srgbClr val="38BDF8"/>
                          </a:solidFill>
                          <a:effectLst/>
                        </a:rPr>
                        <a:t>GPT-5.1</a:t>
                      </a:r>
                      <a:endParaRPr lang="en-US" sz="1000">
                        <a:effectLst/>
                      </a:endParaRP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OpenAI</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400,000 tokens</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a:effectLst/>
                        </a:rPr>
                        <a:t>~1,000–1,300</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000" dirty="0">
                          <a:effectLst/>
                        </a:rPr>
                        <a:t>Advanced reasoning with dynamic compression</a:t>
                      </a:r>
                    </a:p>
                  </a:txBody>
                  <a:tcPr marL="23968" marR="23968" marT="11984" marB="11984"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404761772"/>
                  </a:ext>
                </a:extLst>
              </a:tr>
            </a:tbl>
          </a:graphicData>
        </a:graphic>
      </p:graphicFrame>
      <p:sp>
        <p:nvSpPr>
          <p:cNvPr id="10" name="TextBox 9">
            <a:extLst>
              <a:ext uri="{FF2B5EF4-FFF2-40B4-BE49-F238E27FC236}">
                <a16:creationId xmlns:a16="http://schemas.microsoft.com/office/drawing/2014/main" id="{19571AF1-C470-3628-9DFD-0651F58F7C2B}"/>
              </a:ext>
            </a:extLst>
          </p:cNvPr>
          <p:cNvSpPr txBox="1"/>
          <p:nvPr/>
        </p:nvSpPr>
        <p:spPr>
          <a:xfrm>
            <a:off x="952481" y="5615721"/>
            <a:ext cx="10209230" cy="276999"/>
          </a:xfrm>
          <a:prstGeom prst="rect">
            <a:avLst/>
          </a:prstGeom>
          <a:noFill/>
        </p:spPr>
        <p:txBody>
          <a:bodyPr wrap="square">
            <a:spAutoFit/>
          </a:bodyPr>
          <a:lstStyle/>
          <a:p>
            <a:pPr algn="ctr"/>
            <a:r>
              <a:rPr lang="en-US" sz="1200" b="0" i="1" dirty="0">
                <a:solidFill>
                  <a:srgbClr val="94A3B8"/>
                </a:solidFill>
                <a:effectLst/>
                <a:latin typeface="Arial" panose="020B0604020202020204" pitchFamily="34" charset="0"/>
              </a:rPr>
              <a:t>⚠ Approximate values: Context windows change frequently. Refer to official vendor docs for current specs.</a:t>
            </a:r>
            <a:endParaRPr lang="en-US" sz="1200" dirty="0"/>
          </a:p>
        </p:txBody>
      </p:sp>
    </p:spTree>
    <p:extLst>
      <p:ext uri="{BB962C8B-B14F-4D97-AF65-F5344CB8AC3E}">
        <p14:creationId xmlns:p14="http://schemas.microsoft.com/office/powerpoint/2010/main" val="2514369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0C9B42D-DF03-61ED-C076-3EE76FBF702E}"/>
              </a:ext>
            </a:extLst>
          </p:cNvPr>
          <p:cNvSpPr>
            <a:spLocks noGrp="1"/>
          </p:cNvSpPr>
          <p:nvPr>
            <p:ph type="title"/>
          </p:nvPr>
        </p:nvSpPr>
        <p:spPr>
          <a:xfrm>
            <a:off x="1030287" y="562515"/>
            <a:ext cx="10131425" cy="785567"/>
          </a:xfrm>
        </p:spPr>
        <p:txBody>
          <a:bodyPr>
            <a:normAutofit/>
          </a:bodyPr>
          <a:lstStyle/>
          <a:p>
            <a:pPr algn="ctr"/>
            <a:r>
              <a:rPr lang="en-US" sz="4400" b="1" cap="none" dirty="0">
                <a:solidFill>
                  <a:srgbClr val="92D050"/>
                </a:solidFill>
              </a:rPr>
              <a:t>LLM Input Formats: Strengths &amp; Use Cases</a:t>
            </a:r>
            <a:endParaRPr lang="en-US" sz="4400" cap="none" dirty="0">
              <a:solidFill>
                <a:srgbClr val="92D050"/>
              </a:solidFill>
            </a:endParaRPr>
          </a:p>
        </p:txBody>
      </p:sp>
      <p:graphicFrame>
        <p:nvGraphicFramePr>
          <p:cNvPr id="2" name="Table 1">
            <a:extLst>
              <a:ext uri="{FF2B5EF4-FFF2-40B4-BE49-F238E27FC236}">
                <a16:creationId xmlns:a16="http://schemas.microsoft.com/office/drawing/2014/main" id="{BEE39869-6C14-CB60-6490-84C9C4CD050E}"/>
              </a:ext>
            </a:extLst>
          </p:cNvPr>
          <p:cNvGraphicFramePr>
            <a:graphicFrameLocks noGrp="1"/>
          </p:cNvGraphicFramePr>
          <p:nvPr>
            <p:extLst>
              <p:ext uri="{D42A27DB-BD31-4B8C-83A1-F6EECF244321}">
                <p14:modId xmlns:p14="http://schemas.microsoft.com/office/powerpoint/2010/main" val="663852748"/>
              </p:ext>
            </p:extLst>
          </p:nvPr>
        </p:nvGraphicFramePr>
        <p:xfrm>
          <a:off x="1090178" y="1593129"/>
          <a:ext cx="10011644" cy="3916789"/>
        </p:xfrm>
        <a:graphic>
          <a:graphicData uri="http://schemas.openxmlformats.org/drawingml/2006/table">
            <a:tbl>
              <a:tblPr firstRow="1" bandRow="1"/>
              <a:tblGrid>
                <a:gridCol w="1190304">
                  <a:extLst>
                    <a:ext uri="{9D8B030D-6E8A-4147-A177-3AD203B41FA5}">
                      <a16:colId xmlns:a16="http://schemas.microsoft.com/office/drawing/2014/main" val="478811223"/>
                    </a:ext>
                  </a:extLst>
                </a:gridCol>
                <a:gridCol w="1207776">
                  <a:extLst>
                    <a:ext uri="{9D8B030D-6E8A-4147-A177-3AD203B41FA5}">
                      <a16:colId xmlns:a16="http://schemas.microsoft.com/office/drawing/2014/main" val="478642820"/>
                    </a:ext>
                  </a:extLst>
                </a:gridCol>
                <a:gridCol w="2958309">
                  <a:extLst>
                    <a:ext uri="{9D8B030D-6E8A-4147-A177-3AD203B41FA5}">
                      <a16:colId xmlns:a16="http://schemas.microsoft.com/office/drawing/2014/main" val="1469845746"/>
                    </a:ext>
                  </a:extLst>
                </a:gridCol>
                <a:gridCol w="963190">
                  <a:extLst>
                    <a:ext uri="{9D8B030D-6E8A-4147-A177-3AD203B41FA5}">
                      <a16:colId xmlns:a16="http://schemas.microsoft.com/office/drawing/2014/main" val="1275507571"/>
                    </a:ext>
                  </a:extLst>
                </a:gridCol>
                <a:gridCol w="3692065">
                  <a:extLst>
                    <a:ext uri="{9D8B030D-6E8A-4147-A177-3AD203B41FA5}">
                      <a16:colId xmlns:a16="http://schemas.microsoft.com/office/drawing/2014/main" val="2338147118"/>
                    </a:ext>
                  </a:extLst>
                </a:gridCol>
              </a:tblGrid>
              <a:tr h="432914">
                <a:tc>
                  <a:txBody>
                    <a:bodyPr/>
                    <a:lstStyle/>
                    <a:p>
                      <a:pPr algn="l">
                        <a:buNone/>
                      </a:pPr>
                      <a:r>
                        <a:rPr lang="en-US" sz="1100" b="1">
                          <a:solidFill>
                            <a:srgbClr val="0F172A"/>
                          </a:solidFill>
                          <a:effectLst/>
                        </a:rPr>
                        <a:t>Format</a:t>
                      </a:r>
                    </a:p>
                  </a:txBody>
                  <a:tcPr marL="22211" marR="22211" marT="11105" marB="11105" anchor="ctr">
                    <a:lnL>
                      <a:noFill/>
                    </a:lnL>
                    <a:lnR>
                      <a:noFill/>
                    </a:lnR>
                    <a:lnT>
                      <a:noFill/>
                    </a:lnT>
                    <a:lnB>
                      <a:noFill/>
                    </a:lnB>
                    <a:solidFill>
                      <a:srgbClr val="38BDF8"/>
                    </a:solidFill>
                  </a:tcPr>
                </a:tc>
                <a:tc>
                  <a:txBody>
                    <a:bodyPr/>
                    <a:lstStyle/>
                    <a:p>
                      <a:pPr algn="l">
                        <a:buNone/>
                      </a:pPr>
                      <a:r>
                        <a:rPr lang="en-US" sz="1100" b="1" dirty="0">
                          <a:solidFill>
                            <a:srgbClr val="0F172A"/>
                          </a:solidFill>
                          <a:effectLst/>
                        </a:rPr>
                        <a:t>Token Efficiency</a:t>
                      </a:r>
                    </a:p>
                  </a:txBody>
                  <a:tcPr marL="22211" marR="22211" marT="11105" marB="11105" anchor="ctr">
                    <a:lnL>
                      <a:noFill/>
                    </a:lnL>
                    <a:lnR>
                      <a:noFill/>
                    </a:lnR>
                    <a:lnT>
                      <a:noFill/>
                    </a:lnT>
                    <a:lnB>
                      <a:noFill/>
                    </a:lnB>
                    <a:solidFill>
                      <a:srgbClr val="38BDF8"/>
                    </a:solidFill>
                  </a:tcPr>
                </a:tc>
                <a:tc>
                  <a:txBody>
                    <a:bodyPr/>
                    <a:lstStyle/>
                    <a:p>
                      <a:pPr algn="l">
                        <a:buNone/>
                      </a:pPr>
                      <a:r>
                        <a:rPr lang="en-US" sz="1100" b="1">
                          <a:solidFill>
                            <a:srgbClr val="0F172A"/>
                          </a:solidFill>
                          <a:effectLst/>
                        </a:rPr>
                        <a:t>Accuracy Rating</a:t>
                      </a:r>
                    </a:p>
                  </a:txBody>
                  <a:tcPr marL="22211" marR="22211" marT="11105" marB="11105" anchor="ctr">
                    <a:lnL>
                      <a:noFill/>
                    </a:lnL>
                    <a:lnR>
                      <a:noFill/>
                    </a:lnR>
                    <a:lnT>
                      <a:noFill/>
                    </a:lnT>
                    <a:lnB>
                      <a:noFill/>
                    </a:lnB>
                    <a:solidFill>
                      <a:srgbClr val="38BDF8"/>
                    </a:solidFill>
                  </a:tcPr>
                </a:tc>
                <a:tc>
                  <a:txBody>
                    <a:bodyPr/>
                    <a:lstStyle/>
                    <a:p>
                      <a:pPr algn="l">
                        <a:buNone/>
                      </a:pPr>
                      <a:r>
                        <a:rPr lang="en-US" sz="1100" b="1">
                          <a:solidFill>
                            <a:srgbClr val="0F172A"/>
                          </a:solidFill>
                          <a:effectLst/>
                        </a:rPr>
                        <a:t>Parsing Speed</a:t>
                      </a:r>
                    </a:p>
                  </a:txBody>
                  <a:tcPr marL="22211" marR="22211" marT="11105" marB="11105" anchor="ctr">
                    <a:lnL>
                      <a:noFill/>
                    </a:lnL>
                    <a:lnR>
                      <a:noFill/>
                    </a:lnR>
                    <a:lnT>
                      <a:noFill/>
                    </a:lnT>
                    <a:lnB>
                      <a:noFill/>
                    </a:lnB>
                    <a:solidFill>
                      <a:srgbClr val="38BDF8"/>
                    </a:solidFill>
                  </a:tcPr>
                </a:tc>
                <a:tc>
                  <a:txBody>
                    <a:bodyPr/>
                    <a:lstStyle/>
                    <a:p>
                      <a:pPr algn="l">
                        <a:buNone/>
                      </a:pPr>
                      <a:r>
                        <a:rPr lang="en-US" sz="1100" b="1">
                          <a:solidFill>
                            <a:srgbClr val="0F172A"/>
                          </a:solidFill>
                          <a:effectLst/>
                        </a:rPr>
                        <a:t>Best Use Case</a:t>
                      </a:r>
                    </a:p>
                  </a:txBody>
                  <a:tcPr marL="22211" marR="22211" marT="11105" marB="11105" anchor="ctr">
                    <a:lnL>
                      <a:noFill/>
                    </a:lnL>
                    <a:lnR>
                      <a:noFill/>
                    </a:lnR>
                    <a:lnT>
                      <a:noFill/>
                    </a:lnT>
                    <a:lnB>
                      <a:noFill/>
                    </a:lnB>
                    <a:solidFill>
                      <a:srgbClr val="38BDF8"/>
                    </a:solidFill>
                  </a:tcPr>
                </a:tc>
                <a:extLst>
                  <a:ext uri="{0D108BD9-81ED-4DB2-BD59-A6C34878D82A}">
                    <a16:rowId xmlns:a16="http://schemas.microsoft.com/office/drawing/2014/main" val="2063495421"/>
                  </a:ext>
                </a:extLst>
              </a:tr>
              <a:tr h="250317">
                <a:tc>
                  <a:txBody>
                    <a:bodyPr/>
                    <a:lstStyle/>
                    <a:p>
                      <a:pPr>
                        <a:buNone/>
                      </a:pPr>
                      <a:r>
                        <a:rPr lang="en-US" sz="1100" b="1">
                          <a:solidFill>
                            <a:srgbClr val="38BDF8"/>
                          </a:solidFill>
                          <a:effectLst/>
                        </a:rPr>
                        <a:t>Plaintext</a:t>
                      </a:r>
                      <a:endParaRPr lang="en-US" sz="1100">
                        <a:effectLst/>
                      </a:endParaRPr>
                    </a:p>
                  </a:txBody>
                  <a:tcPr marL="22211" marR="22211" marT="11105" marB="11105"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Baseline</a:t>
                      </a:r>
                    </a:p>
                  </a:txBody>
                  <a:tcPr marL="22211" marR="22211" marT="11105" marB="11105"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Excellent for prose; best token efficiency</a:t>
                      </a:r>
                    </a:p>
                  </a:txBody>
                  <a:tcPr marL="22211" marR="22211" marT="11105" marB="11105"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Moderate</a:t>
                      </a:r>
                    </a:p>
                  </a:txBody>
                  <a:tcPr marL="22211" marR="22211" marT="11105" marB="11105"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Natural language, notes, emails, narrative text</a:t>
                      </a:r>
                    </a:p>
                  </a:txBody>
                  <a:tcPr marL="22211" marR="22211" marT="11105" marB="11105" anchor="ctr">
                    <a:lnL>
                      <a:noFill/>
                    </a:lnL>
                    <a:lnR>
                      <a:noFill/>
                    </a:lnR>
                    <a:lnT>
                      <a:noFill/>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3302036148"/>
                  </a:ext>
                </a:extLst>
              </a:tr>
              <a:tr h="432914">
                <a:tc>
                  <a:txBody>
                    <a:bodyPr/>
                    <a:lstStyle/>
                    <a:p>
                      <a:pPr>
                        <a:buNone/>
                      </a:pPr>
                      <a:r>
                        <a:rPr lang="en-US" sz="1100" b="1">
                          <a:solidFill>
                            <a:srgbClr val="38BDF8"/>
                          </a:solidFill>
                          <a:effectLst/>
                        </a:rPr>
                        <a:t>Markdown</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~15% fewer</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Human-readable; structured data best-performer</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fr-FR" sz="1100">
                          <a:effectLst/>
                        </a:rPr>
                        <a:t>Tables, hierarchies, documentation, technical reports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709887624"/>
                  </a:ext>
                </a:extLst>
              </a:tr>
              <a:tr h="432914">
                <a:tc>
                  <a:txBody>
                    <a:bodyPr/>
                    <a:lstStyle/>
                    <a:p>
                      <a:pPr>
                        <a:buNone/>
                      </a:pPr>
                      <a:r>
                        <a:rPr lang="en-US" sz="1100" b="1">
                          <a:solidFill>
                            <a:srgbClr val="38BDF8"/>
                          </a:solidFill>
                          <a:effectLst/>
                        </a:rPr>
                        <a:t>JSON</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~10-20% more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Strict parsing; widely supported by APIs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Structured APIs, programmatic automation, downstream tools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659348470"/>
                  </a:ext>
                </a:extLst>
              </a:tr>
              <a:tr h="250317">
                <a:tc>
                  <a:txBody>
                    <a:bodyPr/>
                    <a:lstStyle/>
                    <a:p>
                      <a:pPr>
                        <a:buNone/>
                      </a:pPr>
                      <a:r>
                        <a:rPr lang="en-US" sz="1100" b="1">
                          <a:solidFill>
                            <a:srgbClr val="38BDF8"/>
                          </a:solidFill>
                          <a:effectLst/>
                        </a:rPr>
                        <a:t>YAML</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~10% fewer</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Most token-efficient for hierarchies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Configuration files, readable nested structures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1304985502"/>
                  </a:ext>
                </a:extLst>
              </a:tr>
              <a:tr h="250317">
                <a:tc>
                  <a:txBody>
                    <a:bodyPr/>
                    <a:lstStyle/>
                    <a:p>
                      <a:pPr>
                        <a:buNone/>
                      </a:pPr>
                      <a:r>
                        <a:rPr lang="en-US" sz="1100" b="1">
                          <a:solidFill>
                            <a:srgbClr val="38BDF8"/>
                          </a:solidFill>
                          <a:effectLst/>
                        </a:rPr>
                        <a:t>XML</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~10-20% more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Semantic metadata; robust validation</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Slow</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Complex hierarchies, enterprise systems, rich annotations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3257160"/>
                  </a:ext>
                </a:extLst>
              </a:tr>
              <a:tr h="250317">
                <a:tc>
                  <a:txBody>
                    <a:bodyPr/>
                    <a:lstStyle/>
                    <a:p>
                      <a:pPr>
                        <a:buNone/>
                      </a:pPr>
                      <a:r>
                        <a:rPr lang="en-US" sz="1100" b="1">
                          <a:solidFill>
                            <a:srgbClr val="38BDF8"/>
                          </a:solidFill>
                          <a:effectLst/>
                        </a:rPr>
                        <a:t>JSONL</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Fast streaming; line-delimited simplicity</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Very 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Log files, training data, batch processing, records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1019497216"/>
                  </a:ext>
                </a:extLst>
              </a:tr>
              <a:tr h="250317">
                <a:tc>
                  <a:txBody>
                    <a:bodyPr/>
                    <a:lstStyle/>
                    <a:p>
                      <a:pPr>
                        <a:buNone/>
                      </a:pPr>
                      <a:r>
                        <a:rPr lang="en-US" sz="1100" b="1" dirty="0">
                          <a:solidFill>
                            <a:srgbClr val="38BDF8"/>
                          </a:solidFill>
                          <a:effectLst/>
                        </a:rPr>
                        <a:t>CSV</a:t>
                      </a:r>
                      <a:endParaRPr lang="en-US" sz="1100" dirty="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Token-efficient but lower accuracy for LLMs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Very 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Tabular data (consider Markdown alternative for accuracy)</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87406395"/>
                  </a:ext>
                </a:extLst>
              </a:tr>
              <a:tr h="250317">
                <a:tc>
                  <a:txBody>
                    <a:bodyPr/>
                    <a:lstStyle/>
                    <a:p>
                      <a:pPr>
                        <a:buNone/>
                      </a:pPr>
                      <a:r>
                        <a:rPr lang="en-US" sz="1100" b="1" dirty="0">
                          <a:solidFill>
                            <a:srgbClr val="38BDF8"/>
                          </a:solidFill>
                          <a:effectLst/>
                        </a:rPr>
                        <a:t>Python</a:t>
                      </a:r>
                      <a:endParaRPr lang="en-US" sz="1100" dirty="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Executable; excellent for logic and algorithms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Very 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Code generation, data structures, computational workflows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1708405468"/>
                  </a:ext>
                </a:extLst>
              </a:tr>
              <a:tr h="250317">
                <a:tc>
                  <a:txBody>
                    <a:bodyPr/>
                    <a:lstStyle/>
                    <a:p>
                      <a:pPr>
                        <a:buNone/>
                      </a:pPr>
                      <a:r>
                        <a:rPr lang="en-US" sz="1100" b="1">
                          <a:solidFill>
                            <a:srgbClr val="38BDF8"/>
                          </a:solidFill>
                          <a:effectLst/>
                        </a:rPr>
                        <a:t>JavaScript</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Web-native; good for frontend reasoning</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Very Fast</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fr-FR" sz="1100">
                          <a:effectLst/>
                        </a:rPr>
                        <a:t>Frontend code, async patterns, browser APIs, event logic</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755370466"/>
                  </a:ext>
                </a:extLst>
              </a:tr>
              <a:tr h="432914">
                <a:tc>
                  <a:txBody>
                    <a:bodyPr/>
                    <a:lstStyle/>
                    <a:p>
                      <a:pPr>
                        <a:buNone/>
                      </a:pPr>
                      <a:r>
                        <a:rPr lang="en-US" sz="1100" b="1">
                          <a:solidFill>
                            <a:srgbClr val="38BDF8"/>
                          </a:solidFill>
                          <a:effectLst/>
                        </a:rPr>
                        <a:t>Jupyter Notebook</a:t>
                      </a:r>
                      <a:endParaRPr lang="en-US" sz="110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Mixed narrative + code; reproducible workflows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Moderate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a:buNone/>
                      </a:pPr>
                      <a:r>
                        <a:rPr lang="en-US" sz="1100">
                          <a:effectLst/>
                        </a:rPr>
                        <a:t>Data science, exploratory analysis, tutorials, demos</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369101823"/>
                  </a:ext>
                </a:extLst>
              </a:tr>
              <a:tr h="432914">
                <a:tc>
                  <a:txBody>
                    <a:bodyPr/>
                    <a:lstStyle/>
                    <a:p>
                      <a:pPr>
                        <a:buNone/>
                      </a:pPr>
                      <a:r>
                        <a:rPr lang="en-US" sz="1100" b="1" dirty="0">
                          <a:solidFill>
                            <a:srgbClr val="38BDF8"/>
                          </a:solidFill>
                          <a:effectLst/>
                        </a:rPr>
                        <a:t>HTML</a:t>
                      </a:r>
                      <a:endParaRPr lang="en-US" sz="1100" dirty="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~Baseline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dirty="0">
                          <a:effectLst/>
                        </a:rPr>
                        <a:t>Preserves semantic markup and structure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en-US" sz="1100">
                          <a:effectLst/>
                        </a:rPr>
                        <a:t>Moderate</a:t>
                      </a: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a:buNone/>
                      </a:pPr>
                      <a:r>
                        <a:rPr lang="fr-FR" sz="1100" dirty="0">
                          <a:effectLst/>
                        </a:rPr>
                        <a:t>Web pages, documentation sites, UI patterns, content </a:t>
                      </a:r>
                      <a:r>
                        <a:rPr lang="fr-FR" sz="1100" dirty="0" err="1">
                          <a:effectLst/>
                        </a:rPr>
                        <a:t>layout</a:t>
                      </a:r>
                      <a:endParaRPr lang="fr-FR" sz="1100" dirty="0">
                        <a:effectLst/>
                      </a:endParaRPr>
                    </a:p>
                  </a:txBody>
                  <a:tcPr marL="22211" marR="22211" marT="11105" marB="11105" anchor="ctr">
                    <a:lnL>
                      <a:noFill/>
                    </a:lnL>
                    <a:lnR>
                      <a:noFill/>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3745475612"/>
                  </a:ext>
                </a:extLst>
              </a:tr>
            </a:tbl>
          </a:graphicData>
        </a:graphic>
      </p:graphicFrame>
    </p:spTree>
    <p:extLst>
      <p:ext uri="{BB962C8B-B14F-4D97-AF65-F5344CB8AC3E}">
        <p14:creationId xmlns:p14="http://schemas.microsoft.com/office/powerpoint/2010/main" val="4198407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BE7D0653-0175-DCE9-5961-A444060D9985}"/>
              </a:ext>
            </a:extLst>
          </p:cNvPr>
          <p:cNvGraphicFramePr/>
          <p:nvPr>
            <p:extLst>
              <p:ext uri="{D42A27DB-BD31-4B8C-83A1-F6EECF244321}">
                <p14:modId xmlns:p14="http://schemas.microsoft.com/office/powerpoint/2010/main" val="1412209294"/>
              </p:ext>
            </p:extLst>
          </p:nvPr>
        </p:nvGraphicFramePr>
        <p:xfrm>
          <a:off x="1769097" y="1147713"/>
          <a:ext cx="8653805" cy="45625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1">
            <a:extLst>
              <a:ext uri="{FF2B5EF4-FFF2-40B4-BE49-F238E27FC236}">
                <a16:creationId xmlns:a16="http://schemas.microsoft.com/office/drawing/2014/main" id="{48788EFA-05C4-9A8E-287C-B51202ED6FCF}"/>
              </a:ext>
            </a:extLst>
          </p:cNvPr>
          <p:cNvSpPr txBox="1">
            <a:spLocks/>
          </p:cNvSpPr>
          <p:nvPr/>
        </p:nvSpPr>
        <p:spPr>
          <a:xfrm>
            <a:off x="1030287" y="298515"/>
            <a:ext cx="10131425" cy="785567"/>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cap="none" dirty="0">
                <a:solidFill>
                  <a:srgbClr val="92D050"/>
                </a:solidFill>
              </a:rPr>
              <a:t>Example Markdown Structure</a:t>
            </a:r>
            <a:endParaRPr lang="en-US" sz="4400" cap="none" dirty="0">
              <a:solidFill>
                <a:srgbClr val="92D050"/>
              </a:solidFill>
            </a:endParaRPr>
          </a:p>
        </p:txBody>
      </p:sp>
    </p:spTree>
    <p:extLst>
      <p:ext uri="{BB962C8B-B14F-4D97-AF65-F5344CB8AC3E}">
        <p14:creationId xmlns:p14="http://schemas.microsoft.com/office/powerpoint/2010/main" val="4064575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23C0D0A-586F-58FF-665C-ABCC755F67FB}"/>
              </a:ext>
            </a:extLst>
          </p:cNvPr>
          <p:cNvGraphicFramePr>
            <a:graphicFrameLocks noGrp="1"/>
          </p:cNvGraphicFramePr>
          <p:nvPr>
            <p:extLst>
              <p:ext uri="{D42A27DB-BD31-4B8C-83A1-F6EECF244321}">
                <p14:modId xmlns:p14="http://schemas.microsoft.com/office/powerpoint/2010/main" val="4260412006"/>
              </p:ext>
            </p:extLst>
          </p:nvPr>
        </p:nvGraphicFramePr>
        <p:xfrm>
          <a:off x="1030287" y="1604430"/>
          <a:ext cx="10126641" cy="3649140"/>
        </p:xfrm>
        <a:graphic>
          <a:graphicData uri="http://schemas.openxmlformats.org/drawingml/2006/table">
            <a:tbl>
              <a:tblPr firstRow="1" bandRow="1"/>
              <a:tblGrid>
                <a:gridCol w="2616039">
                  <a:extLst>
                    <a:ext uri="{9D8B030D-6E8A-4147-A177-3AD203B41FA5}">
                      <a16:colId xmlns:a16="http://schemas.microsoft.com/office/drawing/2014/main" val="4260027036"/>
                    </a:ext>
                  </a:extLst>
                </a:gridCol>
                <a:gridCol w="2402474">
                  <a:extLst>
                    <a:ext uri="{9D8B030D-6E8A-4147-A177-3AD203B41FA5}">
                      <a16:colId xmlns:a16="http://schemas.microsoft.com/office/drawing/2014/main" val="3402740516"/>
                    </a:ext>
                  </a:extLst>
                </a:gridCol>
                <a:gridCol w="2344059">
                  <a:extLst>
                    <a:ext uri="{9D8B030D-6E8A-4147-A177-3AD203B41FA5}">
                      <a16:colId xmlns:a16="http://schemas.microsoft.com/office/drawing/2014/main" val="2579551401"/>
                    </a:ext>
                  </a:extLst>
                </a:gridCol>
                <a:gridCol w="2764069">
                  <a:extLst>
                    <a:ext uri="{9D8B030D-6E8A-4147-A177-3AD203B41FA5}">
                      <a16:colId xmlns:a16="http://schemas.microsoft.com/office/drawing/2014/main" val="4072664061"/>
                    </a:ext>
                  </a:extLst>
                </a:gridCol>
              </a:tblGrid>
              <a:tr h="331740">
                <a:tc>
                  <a:txBody>
                    <a:bodyPr/>
                    <a:lstStyle/>
                    <a:p>
                      <a:pPr>
                        <a:buNone/>
                      </a:pPr>
                      <a:r>
                        <a:rPr lang="en-US" sz="1500" dirty="0">
                          <a:solidFill>
                            <a:srgbClr val="000000"/>
                          </a:solidFill>
                          <a:effectLst/>
                        </a:rPr>
                        <a:t>Parameter Name</a:t>
                      </a:r>
                    </a:p>
                  </a:txBody>
                  <a:tcPr marL="75728" marR="75728" marT="37864" marB="37864" anchor="ctr">
                    <a:lnL>
                      <a:noFill/>
                    </a:lnL>
                    <a:lnR>
                      <a:noFill/>
                    </a:lnR>
                    <a:lnT>
                      <a:noFill/>
                    </a:lnT>
                    <a:lnB>
                      <a:noFill/>
                    </a:lnB>
                    <a:solidFill>
                      <a:srgbClr val="38BDF8"/>
                    </a:solidFill>
                  </a:tcPr>
                </a:tc>
                <a:tc>
                  <a:txBody>
                    <a:bodyPr/>
                    <a:lstStyle/>
                    <a:p>
                      <a:pPr>
                        <a:buNone/>
                      </a:pPr>
                      <a:r>
                        <a:rPr lang="en-US" sz="1500">
                          <a:solidFill>
                            <a:srgbClr val="000000"/>
                          </a:solidFill>
                          <a:effectLst/>
                        </a:rPr>
                        <a:t>Range</a:t>
                      </a:r>
                    </a:p>
                  </a:txBody>
                  <a:tcPr marL="75728" marR="75728" marT="37864" marB="37864" anchor="ctr">
                    <a:lnL>
                      <a:noFill/>
                    </a:lnL>
                    <a:lnR>
                      <a:noFill/>
                    </a:lnR>
                    <a:lnT>
                      <a:noFill/>
                    </a:lnT>
                    <a:lnB>
                      <a:noFill/>
                    </a:lnB>
                    <a:solidFill>
                      <a:srgbClr val="38BDF8"/>
                    </a:solidFill>
                  </a:tcPr>
                </a:tc>
                <a:tc>
                  <a:txBody>
                    <a:bodyPr/>
                    <a:lstStyle/>
                    <a:p>
                      <a:pPr>
                        <a:buNone/>
                      </a:pPr>
                      <a:r>
                        <a:rPr lang="en-US" sz="1500" dirty="0">
                          <a:solidFill>
                            <a:srgbClr val="000000"/>
                          </a:solidFill>
                          <a:effectLst/>
                        </a:rPr>
                        <a:t>Typical Default</a:t>
                      </a:r>
                    </a:p>
                  </a:txBody>
                  <a:tcPr marL="75728" marR="75728" marT="37864" marB="37864" anchor="ctr">
                    <a:lnL>
                      <a:noFill/>
                    </a:lnL>
                    <a:lnR>
                      <a:noFill/>
                    </a:lnR>
                    <a:lnT>
                      <a:noFill/>
                    </a:lnT>
                    <a:lnB>
                      <a:noFill/>
                    </a:lnB>
                    <a:solidFill>
                      <a:srgbClr val="38BDF8"/>
                    </a:solidFill>
                  </a:tcPr>
                </a:tc>
                <a:tc>
                  <a:txBody>
                    <a:bodyPr/>
                    <a:lstStyle/>
                    <a:p>
                      <a:pPr>
                        <a:buNone/>
                      </a:pPr>
                      <a:r>
                        <a:rPr lang="en-US" sz="1500">
                          <a:solidFill>
                            <a:srgbClr val="000000"/>
                          </a:solidFill>
                          <a:effectLst/>
                        </a:rPr>
                        <a:t>Effect</a:t>
                      </a:r>
                    </a:p>
                  </a:txBody>
                  <a:tcPr marL="75728" marR="75728" marT="37864" marB="37864" anchor="ctr">
                    <a:lnL>
                      <a:noFill/>
                    </a:lnL>
                    <a:lnR>
                      <a:noFill/>
                    </a:lnR>
                    <a:lnT>
                      <a:noFill/>
                    </a:lnT>
                    <a:lnB>
                      <a:noFill/>
                    </a:lnB>
                    <a:solidFill>
                      <a:srgbClr val="38BDF8"/>
                    </a:solidFill>
                  </a:tcPr>
                </a:tc>
                <a:extLst>
                  <a:ext uri="{0D108BD9-81ED-4DB2-BD59-A6C34878D82A}">
                    <a16:rowId xmlns:a16="http://schemas.microsoft.com/office/drawing/2014/main" val="1020961660"/>
                  </a:ext>
                </a:extLst>
              </a:tr>
              <a:tr h="331740">
                <a:tc>
                  <a:txBody>
                    <a:bodyPr/>
                    <a:lstStyle/>
                    <a:p>
                      <a:pPr>
                        <a:buNone/>
                      </a:pPr>
                      <a:r>
                        <a:rPr lang="en-US" sz="1500" dirty="0">
                          <a:effectLst/>
                        </a:rPr>
                        <a:t>temperature</a:t>
                      </a:r>
                    </a:p>
                  </a:txBody>
                  <a:tcPr marL="75728" marR="75728" marT="37864" marB="37864" anchor="ctr">
                    <a:lnL>
                      <a:noFill/>
                    </a:lnL>
                    <a:lnR>
                      <a:noFill/>
                    </a:lnR>
                    <a:lnT>
                      <a:noFill/>
                    </a:lnT>
                    <a:lnB>
                      <a:noFill/>
                    </a:lnB>
                    <a:noFill/>
                  </a:tcPr>
                </a:tc>
                <a:tc>
                  <a:txBody>
                    <a:bodyPr/>
                    <a:lstStyle/>
                    <a:p>
                      <a:pPr>
                        <a:buNone/>
                      </a:pPr>
                      <a:r>
                        <a:rPr lang="en-US" sz="1500">
                          <a:effectLst/>
                        </a:rPr>
                        <a:t>0.0 - 2.0</a:t>
                      </a:r>
                    </a:p>
                  </a:txBody>
                  <a:tcPr marL="75728" marR="75728" marT="37864" marB="37864" anchor="ctr">
                    <a:lnL>
                      <a:noFill/>
                    </a:lnL>
                    <a:lnR>
                      <a:noFill/>
                    </a:lnR>
                    <a:lnT>
                      <a:noFill/>
                    </a:lnT>
                    <a:lnB>
                      <a:noFill/>
                    </a:lnB>
                    <a:noFill/>
                  </a:tcPr>
                </a:tc>
                <a:tc>
                  <a:txBody>
                    <a:bodyPr/>
                    <a:lstStyle/>
                    <a:p>
                      <a:pPr>
                        <a:buNone/>
                      </a:pPr>
                      <a:r>
                        <a:rPr lang="en-US" sz="1500">
                          <a:effectLst/>
                        </a:rPr>
                        <a:t>1.0</a:t>
                      </a:r>
                    </a:p>
                  </a:txBody>
                  <a:tcPr marL="75728" marR="75728" marT="37864" marB="37864" anchor="ctr">
                    <a:lnL>
                      <a:noFill/>
                    </a:lnL>
                    <a:lnR>
                      <a:noFill/>
                    </a:lnR>
                    <a:lnT>
                      <a:noFill/>
                    </a:lnT>
                    <a:lnB>
                      <a:noFill/>
                    </a:lnB>
                    <a:noFill/>
                  </a:tcPr>
                </a:tc>
                <a:tc>
                  <a:txBody>
                    <a:bodyPr/>
                    <a:lstStyle/>
                    <a:p>
                      <a:pPr>
                        <a:buNone/>
                      </a:pPr>
                      <a:r>
                        <a:rPr lang="en-US" sz="1500">
                          <a:solidFill>
                            <a:srgbClr val="CBD5E1"/>
                          </a:solidFill>
                          <a:effectLst/>
                        </a:rPr>
                        <a:t>Randomness control</a:t>
                      </a:r>
                    </a:p>
                  </a:txBody>
                  <a:tcPr marL="75728" marR="75728" marT="37864" marB="37864" anchor="ctr">
                    <a:lnL>
                      <a:noFill/>
                    </a:lnL>
                    <a:lnR>
                      <a:noFill/>
                    </a:lnR>
                    <a:lnT>
                      <a:noFill/>
                    </a:lnT>
                    <a:lnB>
                      <a:noFill/>
                    </a:lnB>
                    <a:noFill/>
                  </a:tcPr>
                </a:tc>
                <a:extLst>
                  <a:ext uri="{0D108BD9-81ED-4DB2-BD59-A6C34878D82A}">
                    <a16:rowId xmlns:a16="http://schemas.microsoft.com/office/drawing/2014/main" val="2698131029"/>
                  </a:ext>
                </a:extLst>
              </a:tr>
              <a:tr h="331740">
                <a:tc>
                  <a:txBody>
                    <a:bodyPr/>
                    <a:lstStyle/>
                    <a:p>
                      <a:pPr>
                        <a:buNone/>
                      </a:pPr>
                      <a:r>
                        <a:rPr lang="en-US" sz="1500" dirty="0" err="1">
                          <a:effectLst/>
                        </a:rPr>
                        <a:t>top_p</a:t>
                      </a:r>
                      <a:endParaRPr lang="en-US" sz="1500" dirty="0">
                        <a:effectLst/>
                      </a:endParaRP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0.0 - 1.0</a:t>
                      </a: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1.0</a:t>
                      </a:r>
                    </a:p>
                  </a:txBody>
                  <a:tcPr marL="75728" marR="75728" marT="37864" marB="37864" anchor="ctr">
                    <a:lnL>
                      <a:noFill/>
                    </a:lnL>
                    <a:lnR>
                      <a:noFill/>
                    </a:lnR>
                    <a:lnT>
                      <a:noFill/>
                    </a:lnT>
                    <a:lnB>
                      <a:noFill/>
                    </a:lnB>
                    <a:solidFill>
                      <a:srgbClr val="1E293B"/>
                    </a:solidFill>
                  </a:tcPr>
                </a:tc>
                <a:tc>
                  <a:txBody>
                    <a:bodyPr/>
                    <a:lstStyle/>
                    <a:p>
                      <a:pPr>
                        <a:buNone/>
                      </a:pPr>
                      <a:r>
                        <a:rPr lang="en-US" sz="1500" dirty="0">
                          <a:solidFill>
                            <a:srgbClr val="CBD5E1"/>
                          </a:solidFill>
                          <a:effectLst/>
                        </a:rPr>
                        <a:t>Cumulative probability, Top %</a:t>
                      </a:r>
                    </a:p>
                  </a:txBody>
                  <a:tcPr marL="75728" marR="75728" marT="37864" marB="37864" anchor="ctr">
                    <a:lnL>
                      <a:noFill/>
                    </a:lnL>
                    <a:lnR>
                      <a:noFill/>
                    </a:lnR>
                    <a:lnT>
                      <a:noFill/>
                    </a:lnT>
                    <a:lnB>
                      <a:noFill/>
                    </a:lnB>
                    <a:solidFill>
                      <a:srgbClr val="1E293B"/>
                    </a:solidFill>
                  </a:tcPr>
                </a:tc>
                <a:extLst>
                  <a:ext uri="{0D108BD9-81ED-4DB2-BD59-A6C34878D82A}">
                    <a16:rowId xmlns:a16="http://schemas.microsoft.com/office/drawing/2014/main" val="2045288307"/>
                  </a:ext>
                </a:extLst>
              </a:tr>
              <a:tr h="331740">
                <a:tc>
                  <a:txBody>
                    <a:bodyPr/>
                    <a:lstStyle/>
                    <a:p>
                      <a:pPr>
                        <a:buNone/>
                      </a:pPr>
                      <a:r>
                        <a:rPr lang="en-US" sz="1500" dirty="0" err="1">
                          <a:effectLst/>
                        </a:rPr>
                        <a:t>top_k</a:t>
                      </a:r>
                      <a:endParaRPr lang="en-US" sz="1500" dirty="0">
                        <a:effectLst/>
                      </a:endParaRPr>
                    </a:p>
                  </a:txBody>
                  <a:tcPr marL="75728" marR="75728" marT="37864" marB="37864" anchor="ctr">
                    <a:lnL>
                      <a:noFill/>
                    </a:lnL>
                    <a:lnR>
                      <a:noFill/>
                    </a:lnR>
                    <a:lnT>
                      <a:noFill/>
                    </a:lnT>
                    <a:lnB>
                      <a:noFill/>
                    </a:lnB>
                    <a:noFill/>
                  </a:tcPr>
                </a:tc>
                <a:tc>
                  <a:txBody>
                    <a:bodyPr/>
                    <a:lstStyle/>
                    <a:p>
                      <a:pPr>
                        <a:buNone/>
                      </a:pPr>
                      <a:r>
                        <a:rPr lang="en-US" sz="1500">
                          <a:effectLst/>
                        </a:rPr>
                        <a:t>-1 to ∞</a:t>
                      </a:r>
                    </a:p>
                  </a:txBody>
                  <a:tcPr marL="75728" marR="75728" marT="37864" marB="37864" anchor="ctr">
                    <a:lnL>
                      <a:noFill/>
                    </a:lnL>
                    <a:lnR>
                      <a:noFill/>
                    </a:lnR>
                    <a:lnT>
                      <a:noFill/>
                    </a:lnT>
                    <a:lnB>
                      <a:noFill/>
                    </a:lnB>
                    <a:noFill/>
                  </a:tcPr>
                </a:tc>
                <a:tc>
                  <a:txBody>
                    <a:bodyPr/>
                    <a:lstStyle/>
                    <a:p>
                      <a:pPr>
                        <a:buNone/>
                      </a:pPr>
                      <a:r>
                        <a:rPr lang="en-US" sz="1500">
                          <a:effectLst/>
                        </a:rPr>
                        <a:t>-1</a:t>
                      </a:r>
                    </a:p>
                  </a:txBody>
                  <a:tcPr marL="75728" marR="75728" marT="37864" marB="37864" anchor="ctr">
                    <a:lnL>
                      <a:noFill/>
                    </a:lnL>
                    <a:lnR>
                      <a:noFill/>
                    </a:lnR>
                    <a:lnT>
                      <a:noFill/>
                    </a:lnT>
                    <a:lnB>
                      <a:noFill/>
                    </a:lnB>
                    <a:noFill/>
                  </a:tcPr>
                </a:tc>
                <a:tc>
                  <a:txBody>
                    <a:bodyPr/>
                    <a:lstStyle/>
                    <a:p>
                      <a:pPr>
                        <a:buNone/>
                      </a:pPr>
                      <a:r>
                        <a:rPr lang="en-US" sz="1500" dirty="0">
                          <a:solidFill>
                            <a:srgbClr val="CBD5E1"/>
                          </a:solidFill>
                          <a:effectLst/>
                        </a:rPr>
                        <a:t>Top K most popular tokens</a:t>
                      </a:r>
                    </a:p>
                  </a:txBody>
                  <a:tcPr marL="75728" marR="75728" marT="37864" marB="37864" anchor="ctr">
                    <a:lnL>
                      <a:noFill/>
                    </a:lnL>
                    <a:lnR>
                      <a:noFill/>
                    </a:lnR>
                    <a:lnT>
                      <a:noFill/>
                    </a:lnT>
                    <a:lnB>
                      <a:noFill/>
                    </a:lnB>
                    <a:noFill/>
                  </a:tcPr>
                </a:tc>
                <a:extLst>
                  <a:ext uri="{0D108BD9-81ED-4DB2-BD59-A6C34878D82A}">
                    <a16:rowId xmlns:a16="http://schemas.microsoft.com/office/drawing/2014/main" val="824050126"/>
                  </a:ext>
                </a:extLst>
              </a:tr>
              <a:tr h="331740">
                <a:tc>
                  <a:txBody>
                    <a:bodyPr/>
                    <a:lstStyle/>
                    <a:p>
                      <a:pPr>
                        <a:buNone/>
                      </a:pPr>
                      <a:r>
                        <a:rPr lang="en-US" sz="1500" dirty="0" err="1">
                          <a:effectLst/>
                        </a:rPr>
                        <a:t>min_p</a:t>
                      </a:r>
                      <a:endParaRPr lang="en-US" sz="1500" dirty="0">
                        <a:effectLst/>
                      </a:endParaRP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0.0 - 1.0</a:t>
                      </a: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0.0</a:t>
                      </a:r>
                    </a:p>
                  </a:txBody>
                  <a:tcPr marL="75728" marR="75728" marT="37864" marB="37864" anchor="ctr">
                    <a:lnL>
                      <a:noFill/>
                    </a:lnL>
                    <a:lnR>
                      <a:noFill/>
                    </a:lnR>
                    <a:lnT>
                      <a:noFill/>
                    </a:lnT>
                    <a:lnB>
                      <a:noFill/>
                    </a:lnB>
                    <a:solidFill>
                      <a:srgbClr val="1E293B"/>
                    </a:solidFill>
                  </a:tcPr>
                </a:tc>
                <a:tc>
                  <a:txBody>
                    <a:bodyPr/>
                    <a:lstStyle/>
                    <a:p>
                      <a:pPr>
                        <a:buNone/>
                      </a:pPr>
                      <a:r>
                        <a:rPr lang="en-US" sz="1500" dirty="0">
                          <a:solidFill>
                            <a:srgbClr val="CBD5E1"/>
                          </a:solidFill>
                          <a:effectLst/>
                        </a:rPr>
                        <a:t>Must be P% as likely as top token</a:t>
                      </a:r>
                    </a:p>
                  </a:txBody>
                  <a:tcPr marL="75728" marR="75728" marT="37864" marB="37864" anchor="ctr">
                    <a:lnL>
                      <a:noFill/>
                    </a:lnL>
                    <a:lnR>
                      <a:noFill/>
                    </a:lnR>
                    <a:lnT>
                      <a:noFill/>
                    </a:lnT>
                    <a:lnB>
                      <a:noFill/>
                    </a:lnB>
                    <a:solidFill>
                      <a:srgbClr val="1E293B"/>
                    </a:solidFill>
                  </a:tcPr>
                </a:tc>
                <a:extLst>
                  <a:ext uri="{0D108BD9-81ED-4DB2-BD59-A6C34878D82A}">
                    <a16:rowId xmlns:a16="http://schemas.microsoft.com/office/drawing/2014/main" val="1160399563"/>
                  </a:ext>
                </a:extLst>
              </a:tr>
              <a:tr h="331740">
                <a:tc>
                  <a:txBody>
                    <a:bodyPr/>
                    <a:lstStyle/>
                    <a:p>
                      <a:pPr>
                        <a:buNone/>
                      </a:pPr>
                      <a:r>
                        <a:rPr lang="en-US" sz="1500" dirty="0" err="1">
                          <a:effectLst/>
                        </a:rPr>
                        <a:t>max_tokens</a:t>
                      </a:r>
                      <a:endParaRPr lang="en-US" sz="1500" dirty="0">
                        <a:effectLst/>
                      </a:endParaRPr>
                    </a:p>
                  </a:txBody>
                  <a:tcPr marL="75728" marR="75728" marT="37864" marB="37864" anchor="ctr">
                    <a:lnL>
                      <a:noFill/>
                    </a:lnL>
                    <a:lnR>
                      <a:noFill/>
                    </a:lnR>
                    <a:lnT>
                      <a:noFill/>
                    </a:lnT>
                    <a:lnB>
                      <a:noFill/>
                    </a:lnB>
                    <a:noFill/>
                  </a:tcPr>
                </a:tc>
                <a:tc>
                  <a:txBody>
                    <a:bodyPr/>
                    <a:lstStyle/>
                    <a:p>
                      <a:pPr>
                        <a:buNone/>
                      </a:pPr>
                      <a:r>
                        <a:rPr lang="en-US" sz="1500">
                          <a:effectLst/>
                        </a:rPr>
                        <a:t>1 to limit</a:t>
                      </a:r>
                    </a:p>
                  </a:txBody>
                  <a:tcPr marL="75728" marR="75728" marT="37864" marB="37864" anchor="ctr">
                    <a:lnL>
                      <a:noFill/>
                    </a:lnL>
                    <a:lnR>
                      <a:noFill/>
                    </a:lnR>
                    <a:lnT>
                      <a:noFill/>
                    </a:lnT>
                    <a:lnB>
                      <a:noFill/>
                    </a:lnB>
                    <a:noFill/>
                  </a:tcPr>
                </a:tc>
                <a:tc>
                  <a:txBody>
                    <a:bodyPr/>
                    <a:lstStyle/>
                    <a:p>
                      <a:pPr>
                        <a:buNone/>
                      </a:pPr>
                      <a:r>
                        <a:rPr lang="en-US" sz="1500">
                          <a:effectLst/>
                        </a:rPr>
                        <a:t>Model-dep</a:t>
                      </a:r>
                    </a:p>
                  </a:txBody>
                  <a:tcPr marL="75728" marR="75728" marT="37864" marB="37864" anchor="ctr">
                    <a:lnL>
                      <a:noFill/>
                    </a:lnL>
                    <a:lnR>
                      <a:noFill/>
                    </a:lnR>
                    <a:lnT>
                      <a:noFill/>
                    </a:lnT>
                    <a:lnB>
                      <a:noFill/>
                    </a:lnB>
                    <a:noFill/>
                  </a:tcPr>
                </a:tc>
                <a:tc>
                  <a:txBody>
                    <a:bodyPr/>
                    <a:lstStyle/>
                    <a:p>
                      <a:pPr>
                        <a:buNone/>
                      </a:pPr>
                      <a:r>
                        <a:rPr lang="en-US" sz="1500" dirty="0">
                          <a:solidFill>
                            <a:srgbClr val="CBD5E1"/>
                          </a:solidFill>
                          <a:effectLst/>
                        </a:rPr>
                        <a:t>Controls Response length</a:t>
                      </a:r>
                    </a:p>
                  </a:txBody>
                  <a:tcPr marL="75728" marR="75728" marT="37864" marB="37864" anchor="ctr">
                    <a:lnL>
                      <a:noFill/>
                    </a:lnL>
                    <a:lnR>
                      <a:noFill/>
                    </a:lnR>
                    <a:lnT>
                      <a:noFill/>
                    </a:lnT>
                    <a:lnB>
                      <a:noFill/>
                    </a:lnB>
                    <a:noFill/>
                  </a:tcPr>
                </a:tc>
                <a:extLst>
                  <a:ext uri="{0D108BD9-81ED-4DB2-BD59-A6C34878D82A}">
                    <a16:rowId xmlns:a16="http://schemas.microsoft.com/office/drawing/2014/main" val="2874375205"/>
                  </a:ext>
                </a:extLst>
              </a:tr>
              <a:tr h="331740">
                <a:tc>
                  <a:txBody>
                    <a:bodyPr/>
                    <a:lstStyle/>
                    <a:p>
                      <a:pPr>
                        <a:buNone/>
                      </a:pPr>
                      <a:r>
                        <a:rPr lang="en-US" sz="1500" dirty="0">
                          <a:effectLst/>
                        </a:rPr>
                        <a:t>seed</a:t>
                      </a: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Any integer</a:t>
                      </a:r>
                    </a:p>
                  </a:txBody>
                  <a:tcPr marL="75728" marR="75728" marT="37864" marB="37864" anchor="ctr">
                    <a:lnL>
                      <a:noFill/>
                    </a:lnL>
                    <a:lnR>
                      <a:noFill/>
                    </a:lnR>
                    <a:lnT>
                      <a:noFill/>
                    </a:lnT>
                    <a:lnB>
                      <a:noFill/>
                    </a:lnB>
                    <a:solidFill>
                      <a:srgbClr val="1E293B"/>
                    </a:solidFill>
                  </a:tcPr>
                </a:tc>
                <a:tc>
                  <a:txBody>
                    <a:bodyPr/>
                    <a:lstStyle/>
                    <a:p>
                      <a:pPr>
                        <a:buNone/>
                      </a:pPr>
                      <a:r>
                        <a:rPr lang="en-US" sz="1500" dirty="0">
                          <a:effectLst/>
                        </a:rPr>
                        <a:t>null</a:t>
                      </a:r>
                    </a:p>
                  </a:txBody>
                  <a:tcPr marL="75728" marR="75728" marT="37864" marB="37864" anchor="ctr">
                    <a:lnL>
                      <a:noFill/>
                    </a:lnL>
                    <a:lnR>
                      <a:noFill/>
                    </a:lnR>
                    <a:lnT>
                      <a:noFill/>
                    </a:lnT>
                    <a:lnB>
                      <a:noFill/>
                    </a:lnB>
                    <a:solidFill>
                      <a:srgbClr val="1E293B"/>
                    </a:solidFill>
                  </a:tcPr>
                </a:tc>
                <a:tc>
                  <a:txBody>
                    <a:bodyPr/>
                    <a:lstStyle/>
                    <a:p>
                      <a:pPr>
                        <a:buNone/>
                      </a:pPr>
                      <a:r>
                        <a:rPr lang="en-US" sz="1500" dirty="0">
                          <a:solidFill>
                            <a:srgbClr val="CBD5E1"/>
                          </a:solidFill>
                          <a:effectLst/>
                        </a:rPr>
                        <a:t>Reproducibility: 42 for testing</a:t>
                      </a:r>
                    </a:p>
                  </a:txBody>
                  <a:tcPr marL="75728" marR="75728" marT="37864" marB="37864" anchor="ctr">
                    <a:lnL>
                      <a:noFill/>
                    </a:lnL>
                    <a:lnR>
                      <a:noFill/>
                    </a:lnR>
                    <a:lnT>
                      <a:noFill/>
                    </a:lnT>
                    <a:lnB>
                      <a:noFill/>
                    </a:lnB>
                    <a:solidFill>
                      <a:srgbClr val="1E293B"/>
                    </a:solidFill>
                  </a:tcPr>
                </a:tc>
                <a:extLst>
                  <a:ext uri="{0D108BD9-81ED-4DB2-BD59-A6C34878D82A}">
                    <a16:rowId xmlns:a16="http://schemas.microsoft.com/office/drawing/2014/main" val="3232620721"/>
                  </a:ext>
                </a:extLst>
              </a:tr>
              <a:tr h="331740">
                <a:tc>
                  <a:txBody>
                    <a:bodyPr/>
                    <a:lstStyle/>
                    <a:p>
                      <a:pPr>
                        <a:buNone/>
                      </a:pPr>
                      <a:r>
                        <a:rPr lang="en-US" sz="1500" dirty="0" err="1">
                          <a:effectLst/>
                        </a:rPr>
                        <a:t>frequency_penalty</a:t>
                      </a:r>
                      <a:endParaRPr lang="en-US" sz="1500" dirty="0">
                        <a:effectLst/>
                      </a:endParaRPr>
                    </a:p>
                  </a:txBody>
                  <a:tcPr marL="75728" marR="75728" marT="37864" marB="37864" anchor="ctr">
                    <a:lnL>
                      <a:noFill/>
                    </a:lnL>
                    <a:lnR>
                      <a:noFill/>
                    </a:lnR>
                    <a:lnT>
                      <a:noFill/>
                    </a:lnT>
                    <a:lnB>
                      <a:noFill/>
                    </a:lnB>
                    <a:noFill/>
                  </a:tcPr>
                </a:tc>
                <a:tc>
                  <a:txBody>
                    <a:bodyPr/>
                    <a:lstStyle/>
                    <a:p>
                      <a:pPr>
                        <a:buNone/>
                      </a:pPr>
                      <a:r>
                        <a:rPr lang="en-US" sz="1500">
                          <a:effectLst/>
                        </a:rPr>
                        <a:t>-2.0 to 2.0</a:t>
                      </a:r>
                    </a:p>
                  </a:txBody>
                  <a:tcPr marL="75728" marR="75728" marT="37864" marB="37864" anchor="ctr">
                    <a:lnL>
                      <a:noFill/>
                    </a:lnL>
                    <a:lnR>
                      <a:noFill/>
                    </a:lnR>
                    <a:lnT>
                      <a:noFill/>
                    </a:lnT>
                    <a:lnB>
                      <a:noFill/>
                    </a:lnB>
                    <a:noFill/>
                  </a:tcPr>
                </a:tc>
                <a:tc>
                  <a:txBody>
                    <a:bodyPr/>
                    <a:lstStyle/>
                    <a:p>
                      <a:pPr>
                        <a:buNone/>
                      </a:pPr>
                      <a:r>
                        <a:rPr lang="en-US" sz="1500">
                          <a:effectLst/>
                        </a:rPr>
                        <a:t>0.0</a:t>
                      </a:r>
                    </a:p>
                  </a:txBody>
                  <a:tcPr marL="75728" marR="75728" marT="37864" marB="37864" anchor="ctr">
                    <a:lnL>
                      <a:noFill/>
                    </a:lnL>
                    <a:lnR>
                      <a:noFill/>
                    </a:lnR>
                    <a:lnT>
                      <a:noFill/>
                    </a:lnT>
                    <a:lnB>
                      <a:noFill/>
                    </a:lnB>
                    <a:noFill/>
                  </a:tcPr>
                </a:tc>
                <a:tc>
                  <a:txBody>
                    <a:bodyPr/>
                    <a:lstStyle/>
                    <a:p>
                      <a:pPr>
                        <a:buNone/>
                      </a:pPr>
                      <a:r>
                        <a:rPr lang="en-US" sz="1500" dirty="0">
                          <a:solidFill>
                            <a:srgbClr val="CBD5E1"/>
                          </a:solidFill>
                          <a:effectLst/>
                        </a:rPr>
                        <a:t>Repetition count</a:t>
                      </a:r>
                    </a:p>
                  </a:txBody>
                  <a:tcPr marL="75728" marR="75728" marT="37864" marB="37864" anchor="ctr">
                    <a:lnL>
                      <a:noFill/>
                    </a:lnL>
                    <a:lnR>
                      <a:noFill/>
                    </a:lnR>
                    <a:lnT>
                      <a:noFill/>
                    </a:lnT>
                    <a:lnB>
                      <a:noFill/>
                    </a:lnB>
                    <a:noFill/>
                  </a:tcPr>
                </a:tc>
                <a:extLst>
                  <a:ext uri="{0D108BD9-81ED-4DB2-BD59-A6C34878D82A}">
                    <a16:rowId xmlns:a16="http://schemas.microsoft.com/office/drawing/2014/main" val="3185218671"/>
                  </a:ext>
                </a:extLst>
              </a:tr>
              <a:tr h="331740">
                <a:tc>
                  <a:txBody>
                    <a:bodyPr/>
                    <a:lstStyle/>
                    <a:p>
                      <a:pPr>
                        <a:buNone/>
                      </a:pPr>
                      <a:r>
                        <a:rPr lang="en-US" sz="1500" dirty="0" err="1">
                          <a:effectLst/>
                        </a:rPr>
                        <a:t>presence_penalty</a:t>
                      </a:r>
                      <a:endParaRPr lang="en-US" sz="1500" dirty="0">
                        <a:effectLst/>
                      </a:endParaRP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-2.0 to 2.0</a:t>
                      </a: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0.0</a:t>
                      </a:r>
                    </a:p>
                  </a:txBody>
                  <a:tcPr marL="75728" marR="75728" marT="37864" marB="37864" anchor="ctr">
                    <a:lnL>
                      <a:noFill/>
                    </a:lnL>
                    <a:lnR>
                      <a:noFill/>
                    </a:lnR>
                    <a:lnT>
                      <a:noFill/>
                    </a:lnT>
                    <a:lnB>
                      <a:noFill/>
                    </a:lnB>
                    <a:solidFill>
                      <a:srgbClr val="1E293B"/>
                    </a:solidFill>
                  </a:tcPr>
                </a:tc>
                <a:tc>
                  <a:txBody>
                    <a:bodyPr/>
                    <a:lstStyle/>
                    <a:p>
                      <a:pPr>
                        <a:buNone/>
                      </a:pPr>
                      <a:r>
                        <a:rPr lang="en-US" sz="1500">
                          <a:solidFill>
                            <a:srgbClr val="CBD5E1"/>
                          </a:solidFill>
                          <a:effectLst/>
                        </a:rPr>
                        <a:t>Binary presence</a:t>
                      </a:r>
                    </a:p>
                  </a:txBody>
                  <a:tcPr marL="75728" marR="75728" marT="37864" marB="37864" anchor="ctr">
                    <a:lnL>
                      <a:noFill/>
                    </a:lnL>
                    <a:lnR>
                      <a:noFill/>
                    </a:lnR>
                    <a:lnT>
                      <a:noFill/>
                    </a:lnT>
                    <a:lnB>
                      <a:noFill/>
                    </a:lnB>
                    <a:solidFill>
                      <a:srgbClr val="1E293B"/>
                    </a:solidFill>
                  </a:tcPr>
                </a:tc>
                <a:extLst>
                  <a:ext uri="{0D108BD9-81ED-4DB2-BD59-A6C34878D82A}">
                    <a16:rowId xmlns:a16="http://schemas.microsoft.com/office/drawing/2014/main" val="2312561412"/>
                  </a:ext>
                </a:extLst>
              </a:tr>
              <a:tr h="331740">
                <a:tc>
                  <a:txBody>
                    <a:bodyPr/>
                    <a:lstStyle/>
                    <a:p>
                      <a:pPr>
                        <a:buNone/>
                      </a:pPr>
                      <a:r>
                        <a:rPr lang="en-US" sz="1500" dirty="0" err="1">
                          <a:effectLst/>
                        </a:rPr>
                        <a:t>repitition_penalty</a:t>
                      </a:r>
                      <a:endParaRPr lang="en-US" sz="1500" dirty="0">
                        <a:effectLst/>
                      </a:endParaRPr>
                    </a:p>
                  </a:txBody>
                  <a:tcPr marL="75728" marR="75728" marT="37864" marB="37864" anchor="ctr">
                    <a:lnL>
                      <a:noFill/>
                    </a:lnL>
                    <a:lnR>
                      <a:noFill/>
                    </a:lnR>
                    <a:lnT>
                      <a:noFill/>
                    </a:lnT>
                    <a:lnB>
                      <a:noFill/>
                    </a:lnB>
                    <a:noFill/>
                  </a:tcPr>
                </a:tc>
                <a:tc>
                  <a:txBody>
                    <a:bodyPr/>
                    <a:lstStyle/>
                    <a:p>
                      <a:pPr>
                        <a:buNone/>
                      </a:pPr>
                      <a:r>
                        <a:rPr lang="en-US" sz="1500">
                          <a:effectLst/>
                        </a:rPr>
                        <a:t>1.0 - 2.0</a:t>
                      </a:r>
                    </a:p>
                  </a:txBody>
                  <a:tcPr marL="75728" marR="75728" marT="37864" marB="37864" anchor="ctr">
                    <a:lnL>
                      <a:noFill/>
                    </a:lnL>
                    <a:lnR>
                      <a:noFill/>
                    </a:lnR>
                    <a:lnT>
                      <a:noFill/>
                    </a:lnT>
                    <a:lnB>
                      <a:noFill/>
                    </a:lnB>
                    <a:noFill/>
                  </a:tcPr>
                </a:tc>
                <a:tc>
                  <a:txBody>
                    <a:bodyPr/>
                    <a:lstStyle/>
                    <a:p>
                      <a:pPr>
                        <a:buNone/>
                      </a:pPr>
                      <a:r>
                        <a:rPr lang="en-US" sz="1500">
                          <a:effectLst/>
                        </a:rPr>
                        <a:t>1.0</a:t>
                      </a:r>
                    </a:p>
                  </a:txBody>
                  <a:tcPr marL="75728" marR="75728" marT="37864" marB="37864" anchor="ctr">
                    <a:lnL>
                      <a:noFill/>
                    </a:lnL>
                    <a:lnR>
                      <a:noFill/>
                    </a:lnR>
                    <a:lnT>
                      <a:noFill/>
                    </a:lnT>
                    <a:lnB>
                      <a:noFill/>
                    </a:lnB>
                    <a:noFill/>
                  </a:tcPr>
                </a:tc>
                <a:tc>
                  <a:txBody>
                    <a:bodyPr/>
                    <a:lstStyle/>
                    <a:p>
                      <a:pPr>
                        <a:buNone/>
                      </a:pPr>
                      <a:r>
                        <a:rPr lang="en-US" sz="1500">
                          <a:solidFill>
                            <a:srgbClr val="CBD5E1"/>
                          </a:solidFill>
                          <a:effectLst/>
                        </a:rPr>
                        <a:t>Multiplicative</a:t>
                      </a:r>
                    </a:p>
                  </a:txBody>
                  <a:tcPr marL="75728" marR="75728" marT="37864" marB="37864" anchor="ctr">
                    <a:lnL>
                      <a:noFill/>
                    </a:lnL>
                    <a:lnR>
                      <a:noFill/>
                    </a:lnR>
                    <a:lnT>
                      <a:noFill/>
                    </a:lnT>
                    <a:lnB>
                      <a:noFill/>
                    </a:lnB>
                    <a:noFill/>
                  </a:tcPr>
                </a:tc>
                <a:extLst>
                  <a:ext uri="{0D108BD9-81ED-4DB2-BD59-A6C34878D82A}">
                    <a16:rowId xmlns:a16="http://schemas.microsoft.com/office/drawing/2014/main" val="1816312234"/>
                  </a:ext>
                </a:extLst>
              </a:tr>
              <a:tr h="331740">
                <a:tc>
                  <a:txBody>
                    <a:bodyPr/>
                    <a:lstStyle/>
                    <a:p>
                      <a:pPr>
                        <a:buNone/>
                      </a:pPr>
                      <a:r>
                        <a:rPr lang="en-US" sz="1500" dirty="0">
                          <a:effectLst/>
                        </a:rPr>
                        <a:t>stop</a:t>
                      </a:r>
                    </a:p>
                  </a:txBody>
                  <a:tcPr marL="75728" marR="75728" marT="37864" marB="37864" anchor="ctr">
                    <a:lnL>
                      <a:noFill/>
                    </a:lnL>
                    <a:lnR>
                      <a:noFill/>
                    </a:lnR>
                    <a:lnT>
                      <a:noFill/>
                    </a:lnT>
                    <a:lnB>
                      <a:noFill/>
                    </a:lnB>
                    <a:solidFill>
                      <a:srgbClr val="1E293B"/>
                    </a:solidFill>
                  </a:tcPr>
                </a:tc>
                <a:tc>
                  <a:txBody>
                    <a:bodyPr/>
                    <a:lstStyle/>
                    <a:p>
                      <a:pPr>
                        <a:buNone/>
                      </a:pPr>
                      <a:r>
                        <a:rPr lang="en-US" sz="1500" dirty="0">
                          <a:effectLst/>
                        </a:rPr>
                        <a:t>Array</a:t>
                      </a:r>
                    </a:p>
                  </a:txBody>
                  <a:tcPr marL="75728" marR="75728" marT="37864" marB="37864" anchor="ctr">
                    <a:lnL>
                      <a:noFill/>
                    </a:lnL>
                    <a:lnR>
                      <a:noFill/>
                    </a:lnR>
                    <a:lnT>
                      <a:noFill/>
                    </a:lnT>
                    <a:lnB>
                      <a:noFill/>
                    </a:lnB>
                    <a:solidFill>
                      <a:srgbClr val="1E293B"/>
                    </a:solidFill>
                  </a:tcPr>
                </a:tc>
                <a:tc>
                  <a:txBody>
                    <a:bodyPr/>
                    <a:lstStyle/>
                    <a:p>
                      <a:pPr>
                        <a:buNone/>
                      </a:pPr>
                      <a:r>
                        <a:rPr lang="en-US" sz="1500">
                          <a:effectLst/>
                        </a:rPr>
                        <a:t>[]</a:t>
                      </a:r>
                    </a:p>
                  </a:txBody>
                  <a:tcPr marL="75728" marR="75728" marT="37864" marB="37864" anchor="ctr">
                    <a:lnL>
                      <a:noFill/>
                    </a:lnL>
                    <a:lnR>
                      <a:noFill/>
                    </a:lnR>
                    <a:lnT>
                      <a:noFill/>
                    </a:lnT>
                    <a:lnB>
                      <a:noFill/>
                    </a:lnB>
                    <a:solidFill>
                      <a:srgbClr val="1E293B"/>
                    </a:solidFill>
                  </a:tcPr>
                </a:tc>
                <a:tc>
                  <a:txBody>
                    <a:bodyPr/>
                    <a:lstStyle/>
                    <a:p>
                      <a:pPr>
                        <a:buNone/>
                      </a:pPr>
                      <a:r>
                        <a:rPr lang="en-US" sz="1500" dirty="0">
                          <a:solidFill>
                            <a:srgbClr val="CBD5E1"/>
                          </a:solidFill>
                          <a:effectLst/>
                        </a:rPr>
                        <a:t>Halt markers</a:t>
                      </a:r>
                    </a:p>
                  </a:txBody>
                  <a:tcPr marL="75728" marR="75728" marT="37864" marB="37864" anchor="ctr">
                    <a:lnL>
                      <a:noFill/>
                    </a:lnL>
                    <a:lnR>
                      <a:noFill/>
                    </a:lnR>
                    <a:lnT>
                      <a:noFill/>
                    </a:lnT>
                    <a:lnB>
                      <a:noFill/>
                    </a:lnB>
                    <a:solidFill>
                      <a:srgbClr val="1E293B"/>
                    </a:solidFill>
                  </a:tcPr>
                </a:tc>
                <a:extLst>
                  <a:ext uri="{0D108BD9-81ED-4DB2-BD59-A6C34878D82A}">
                    <a16:rowId xmlns:a16="http://schemas.microsoft.com/office/drawing/2014/main" val="197572220"/>
                  </a:ext>
                </a:extLst>
              </a:tr>
            </a:tbl>
          </a:graphicData>
        </a:graphic>
      </p:graphicFrame>
      <p:sp>
        <p:nvSpPr>
          <p:cNvPr id="4" name="Title 1">
            <a:extLst>
              <a:ext uri="{FF2B5EF4-FFF2-40B4-BE49-F238E27FC236}">
                <a16:creationId xmlns:a16="http://schemas.microsoft.com/office/drawing/2014/main" id="{7C59CD00-00A1-1C76-EC58-6B5A7F255DFC}"/>
              </a:ext>
            </a:extLst>
          </p:cNvPr>
          <p:cNvSpPr txBox="1">
            <a:spLocks/>
          </p:cNvSpPr>
          <p:nvPr/>
        </p:nvSpPr>
        <p:spPr>
          <a:xfrm>
            <a:off x="1030287" y="365190"/>
            <a:ext cx="10131425" cy="785567"/>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b="1" cap="none" dirty="0">
                <a:solidFill>
                  <a:srgbClr val="92D050"/>
                </a:solidFill>
              </a:rPr>
              <a:t>Typical Context Parameters</a:t>
            </a:r>
            <a:endParaRPr lang="en-US" sz="4400" cap="none" dirty="0">
              <a:solidFill>
                <a:srgbClr val="92D050"/>
              </a:solidFill>
            </a:endParaRPr>
          </a:p>
        </p:txBody>
      </p:sp>
      <p:sp>
        <p:nvSpPr>
          <p:cNvPr id="5" name="TextBox 4">
            <a:extLst>
              <a:ext uri="{FF2B5EF4-FFF2-40B4-BE49-F238E27FC236}">
                <a16:creationId xmlns:a16="http://schemas.microsoft.com/office/drawing/2014/main" id="{24A8AC88-8A19-A309-C37C-5BB6F973DD2A}"/>
              </a:ext>
            </a:extLst>
          </p:cNvPr>
          <p:cNvSpPr txBox="1"/>
          <p:nvPr/>
        </p:nvSpPr>
        <p:spPr>
          <a:xfrm>
            <a:off x="988992" y="5430244"/>
            <a:ext cx="10209230" cy="276999"/>
          </a:xfrm>
          <a:prstGeom prst="rect">
            <a:avLst/>
          </a:prstGeom>
          <a:noFill/>
        </p:spPr>
        <p:txBody>
          <a:bodyPr wrap="square">
            <a:spAutoFit/>
          </a:bodyPr>
          <a:lstStyle/>
          <a:p>
            <a:pPr algn="ctr"/>
            <a:r>
              <a:rPr lang="en-US" sz="1200" i="1" dirty="0">
                <a:solidFill>
                  <a:srgbClr val="94A3B8"/>
                </a:solidFill>
                <a:latin typeface="Arial" panose="020B0604020202020204" pitchFamily="34" charset="0"/>
              </a:rPr>
              <a:t>Not all LLM models use parameters, these are simply the standard ones.  They should work for GPT5.1 and others.  Always test with your model!</a:t>
            </a:r>
            <a:endParaRPr lang="en-US" sz="1200" dirty="0"/>
          </a:p>
        </p:txBody>
      </p:sp>
    </p:spTree>
    <p:extLst>
      <p:ext uri="{BB962C8B-B14F-4D97-AF65-F5344CB8AC3E}">
        <p14:creationId xmlns:p14="http://schemas.microsoft.com/office/powerpoint/2010/main" val="2462221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29A30-6C8C-A8FD-56C4-DBF5E5FAD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BD179-9C90-DAEE-9D6D-4CB9D59A6E6B}"/>
              </a:ext>
            </a:extLst>
          </p:cNvPr>
          <p:cNvSpPr>
            <a:spLocks noGrp="1"/>
          </p:cNvSpPr>
          <p:nvPr>
            <p:ph type="title"/>
          </p:nvPr>
        </p:nvSpPr>
        <p:spPr>
          <a:xfrm>
            <a:off x="1250623" y="1940350"/>
            <a:ext cx="9690754" cy="2359843"/>
          </a:xfrm>
        </p:spPr>
        <p:txBody>
          <a:bodyPr>
            <a:noAutofit/>
          </a:bodyPr>
          <a:lstStyle/>
          <a:p>
            <a:pPr algn="ctr"/>
            <a:r>
              <a:rPr lang="en-US" sz="5400" b="1" cap="none" dirty="0">
                <a:solidFill>
                  <a:srgbClr val="92D050"/>
                </a:solidFill>
                <a:latin typeface="+mn-lt"/>
              </a:rPr>
              <a:t>The Generative Part</a:t>
            </a:r>
          </a:p>
        </p:txBody>
      </p:sp>
      <p:sp>
        <p:nvSpPr>
          <p:cNvPr id="3" name="TextBox 2">
            <a:extLst>
              <a:ext uri="{FF2B5EF4-FFF2-40B4-BE49-F238E27FC236}">
                <a16:creationId xmlns:a16="http://schemas.microsoft.com/office/drawing/2014/main" id="{6022F374-1B94-A738-B105-70F439E1D95C}"/>
              </a:ext>
            </a:extLst>
          </p:cNvPr>
          <p:cNvSpPr txBox="1"/>
          <p:nvPr/>
        </p:nvSpPr>
        <p:spPr>
          <a:xfrm>
            <a:off x="2969443" y="3120272"/>
            <a:ext cx="2516957" cy="1456267"/>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469822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BEFA0-035D-2913-6044-F463361D8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50B74-E7D3-62DE-FEC5-611E07C57F85}"/>
              </a:ext>
            </a:extLst>
          </p:cNvPr>
          <p:cNvSpPr>
            <a:spLocks noGrp="1"/>
          </p:cNvSpPr>
          <p:nvPr>
            <p:ph type="title"/>
          </p:nvPr>
        </p:nvSpPr>
        <p:spPr>
          <a:xfrm>
            <a:off x="1250623" y="1940350"/>
            <a:ext cx="9690754" cy="2359843"/>
          </a:xfrm>
        </p:spPr>
        <p:txBody>
          <a:bodyPr>
            <a:noAutofit/>
          </a:bodyPr>
          <a:lstStyle/>
          <a:p>
            <a:pPr algn="ctr"/>
            <a:r>
              <a:rPr lang="en-US" sz="5400" b="1" cap="none" dirty="0">
                <a:solidFill>
                  <a:srgbClr val="92D050"/>
                </a:solidFill>
                <a:latin typeface="+mn-lt"/>
              </a:rPr>
              <a:t>Software Development Workflow Case Study</a:t>
            </a:r>
          </a:p>
        </p:txBody>
      </p:sp>
      <p:sp>
        <p:nvSpPr>
          <p:cNvPr id="3" name="TextBox 2">
            <a:extLst>
              <a:ext uri="{FF2B5EF4-FFF2-40B4-BE49-F238E27FC236}">
                <a16:creationId xmlns:a16="http://schemas.microsoft.com/office/drawing/2014/main" id="{939D5293-8E14-1230-549C-FAFDDB14C203}"/>
              </a:ext>
            </a:extLst>
          </p:cNvPr>
          <p:cNvSpPr txBox="1"/>
          <p:nvPr/>
        </p:nvSpPr>
        <p:spPr>
          <a:xfrm>
            <a:off x="2969443" y="3120272"/>
            <a:ext cx="2516957" cy="1456267"/>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49390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5F772-E140-790D-6F8C-157223C46E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4CF30-6F98-BFA0-E6D1-64D9685AF8C2}"/>
              </a:ext>
            </a:extLst>
          </p:cNvPr>
          <p:cNvSpPr>
            <a:spLocks noGrp="1"/>
          </p:cNvSpPr>
          <p:nvPr>
            <p:ph type="title"/>
          </p:nvPr>
        </p:nvSpPr>
        <p:spPr>
          <a:xfrm>
            <a:off x="1250623" y="642769"/>
            <a:ext cx="9690754" cy="871193"/>
          </a:xfrm>
        </p:spPr>
        <p:txBody>
          <a:bodyPr>
            <a:noAutofit/>
          </a:bodyPr>
          <a:lstStyle/>
          <a:p>
            <a:pPr algn="ctr"/>
            <a:r>
              <a:rPr lang="en-US" sz="5400" b="1" cap="none" dirty="0">
                <a:solidFill>
                  <a:srgbClr val="92D050"/>
                </a:solidFill>
                <a:latin typeface="+mn-lt"/>
              </a:rPr>
              <a:t>CRVM Demo Calculator</a:t>
            </a:r>
          </a:p>
        </p:txBody>
      </p:sp>
      <p:sp>
        <p:nvSpPr>
          <p:cNvPr id="3" name="TextBox 2">
            <a:extLst>
              <a:ext uri="{FF2B5EF4-FFF2-40B4-BE49-F238E27FC236}">
                <a16:creationId xmlns:a16="http://schemas.microsoft.com/office/drawing/2014/main" id="{BBF2D7AA-013F-DA41-9624-CE21F901DD74}"/>
              </a:ext>
            </a:extLst>
          </p:cNvPr>
          <p:cNvSpPr txBox="1"/>
          <p:nvPr/>
        </p:nvSpPr>
        <p:spPr>
          <a:xfrm>
            <a:off x="2969443" y="3120272"/>
            <a:ext cx="2516957" cy="1456267"/>
          </a:xfrm>
          <a:prstGeom prst="rect">
            <a:avLst/>
          </a:prstGeom>
          <a:noFill/>
        </p:spPr>
        <p:txBody>
          <a:bodyPr wrap="square" rtlCol="0">
            <a:spAutoFit/>
          </a:bodyPr>
          <a:lstStyle/>
          <a:p>
            <a:endParaRPr lang="en-US"/>
          </a:p>
        </p:txBody>
      </p:sp>
      <p:pic>
        <p:nvPicPr>
          <p:cNvPr id="5" name="Picture 4">
            <a:extLst>
              <a:ext uri="{FF2B5EF4-FFF2-40B4-BE49-F238E27FC236}">
                <a16:creationId xmlns:a16="http://schemas.microsoft.com/office/drawing/2014/main" id="{A8635D8F-0B96-60F7-3A6C-ABCCF46554A5}"/>
              </a:ext>
            </a:extLst>
          </p:cNvPr>
          <p:cNvPicPr>
            <a:picLocks noChangeAspect="1"/>
          </p:cNvPicPr>
          <p:nvPr/>
        </p:nvPicPr>
        <p:blipFill>
          <a:blip r:embed="rId2"/>
          <a:stretch>
            <a:fillRect/>
          </a:stretch>
        </p:blipFill>
        <p:spPr>
          <a:xfrm>
            <a:off x="4686103" y="1709114"/>
            <a:ext cx="2819794" cy="2867425"/>
          </a:xfrm>
          <a:prstGeom prst="rect">
            <a:avLst/>
          </a:prstGeom>
        </p:spPr>
      </p:pic>
      <p:sp>
        <p:nvSpPr>
          <p:cNvPr id="6" name="Title 1">
            <a:extLst>
              <a:ext uri="{FF2B5EF4-FFF2-40B4-BE49-F238E27FC236}">
                <a16:creationId xmlns:a16="http://schemas.microsoft.com/office/drawing/2014/main" id="{8306BBAB-9E38-2116-23D6-3DDE08709310}"/>
              </a:ext>
            </a:extLst>
          </p:cNvPr>
          <p:cNvSpPr txBox="1">
            <a:spLocks/>
          </p:cNvSpPr>
          <p:nvPr/>
        </p:nvSpPr>
        <p:spPr>
          <a:xfrm>
            <a:off x="1250623" y="4576539"/>
            <a:ext cx="9690754" cy="871193"/>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4800" b="1" cap="none" dirty="0">
              <a:solidFill>
                <a:srgbClr val="92D050"/>
              </a:solidFill>
              <a:latin typeface="+mn-lt"/>
            </a:endParaRPr>
          </a:p>
        </p:txBody>
      </p:sp>
      <p:sp>
        <p:nvSpPr>
          <p:cNvPr id="7" name="Title 1">
            <a:extLst>
              <a:ext uri="{FF2B5EF4-FFF2-40B4-BE49-F238E27FC236}">
                <a16:creationId xmlns:a16="http://schemas.microsoft.com/office/drawing/2014/main" id="{723995F3-AAE9-1236-2DBB-C0251E45EF06}"/>
              </a:ext>
            </a:extLst>
          </p:cNvPr>
          <p:cNvSpPr txBox="1">
            <a:spLocks/>
          </p:cNvSpPr>
          <p:nvPr/>
        </p:nvSpPr>
        <p:spPr>
          <a:xfrm>
            <a:off x="1250623" y="4771691"/>
            <a:ext cx="9690754" cy="871193"/>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800" b="1" cap="none" dirty="0">
                <a:solidFill>
                  <a:srgbClr val="92D050"/>
                </a:solidFill>
                <a:latin typeface="+mn-lt"/>
              </a:rPr>
              <a:t>https://5thgenfinance.github.io/live/crvm-calculator/</a:t>
            </a:r>
          </a:p>
        </p:txBody>
      </p:sp>
    </p:spTree>
    <p:extLst>
      <p:ext uri="{BB962C8B-B14F-4D97-AF65-F5344CB8AC3E}">
        <p14:creationId xmlns:p14="http://schemas.microsoft.com/office/powerpoint/2010/main" val="4053659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335721-B8DE-6689-DE89-7BFCC4FE13F9}"/>
              </a:ext>
            </a:extLst>
          </p:cNvPr>
          <p:cNvSpPr txBox="1"/>
          <p:nvPr/>
        </p:nvSpPr>
        <p:spPr>
          <a:xfrm>
            <a:off x="1260434" y="1290325"/>
            <a:ext cx="7487322" cy="461665"/>
          </a:xfrm>
          <a:prstGeom prst="rect">
            <a:avLst/>
          </a:prstGeom>
          <a:noFill/>
        </p:spPr>
        <p:txBody>
          <a:bodyPr wrap="square" rtlCol="0">
            <a:spAutoFit/>
          </a:bodyPr>
          <a:lstStyle/>
          <a:p>
            <a:r>
              <a:rPr lang="en-US" sz="2400" b="1" dirty="0">
                <a:solidFill>
                  <a:srgbClr val="92D050"/>
                </a:solidFill>
                <a:hlinkClick r:id="rId2">
                  <a:extLst>
                    <a:ext uri="{A12FA001-AC4F-418D-AE19-62706E023703}">
                      <ahyp:hlinkClr xmlns:ahyp="http://schemas.microsoft.com/office/drawing/2018/hyperlinkcolor" val="tx"/>
                    </a:ext>
                  </a:extLst>
                </a:hlinkClick>
              </a:rPr>
              <a:t>My Site: https://www.5thgenfinance.com</a:t>
            </a:r>
            <a:endParaRPr lang="en-US" sz="2400" b="1" dirty="0">
              <a:solidFill>
                <a:srgbClr val="92D050"/>
              </a:solidFill>
            </a:endParaRPr>
          </a:p>
        </p:txBody>
      </p:sp>
      <p:sp>
        <p:nvSpPr>
          <p:cNvPr id="3" name="TextBox 2">
            <a:extLst>
              <a:ext uri="{FF2B5EF4-FFF2-40B4-BE49-F238E27FC236}">
                <a16:creationId xmlns:a16="http://schemas.microsoft.com/office/drawing/2014/main" id="{4B323719-97F1-21A6-1710-F50342F3F1E5}"/>
              </a:ext>
            </a:extLst>
          </p:cNvPr>
          <p:cNvSpPr txBox="1"/>
          <p:nvPr/>
        </p:nvSpPr>
        <p:spPr>
          <a:xfrm>
            <a:off x="1260437" y="610829"/>
            <a:ext cx="9671125" cy="461665"/>
          </a:xfrm>
          <a:prstGeom prst="rect">
            <a:avLst/>
          </a:prstGeom>
          <a:noFill/>
        </p:spPr>
        <p:txBody>
          <a:bodyPr wrap="square" rtlCol="0">
            <a:spAutoFit/>
          </a:bodyPr>
          <a:lstStyle/>
          <a:p>
            <a:r>
              <a:rPr lang="en-US" sz="2400" b="1" dirty="0">
                <a:solidFill>
                  <a:srgbClr val="92D050"/>
                </a:solidFill>
              </a:rPr>
              <a:t>Handouts: https://github.com/5thgenfinance/full-stack-actuarial</a:t>
            </a:r>
          </a:p>
        </p:txBody>
      </p:sp>
      <p:sp>
        <p:nvSpPr>
          <p:cNvPr id="5" name="TextBox 4">
            <a:extLst>
              <a:ext uri="{FF2B5EF4-FFF2-40B4-BE49-F238E27FC236}">
                <a16:creationId xmlns:a16="http://schemas.microsoft.com/office/drawing/2014/main" id="{14DB0344-DFEF-C1F2-9EF4-4A0D4F88627A}"/>
              </a:ext>
            </a:extLst>
          </p:cNvPr>
          <p:cNvSpPr txBox="1"/>
          <p:nvPr/>
        </p:nvSpPr>
        <p:spPr>
          <a:xfrm>
            <a:off x="1260434" y="2034082"/>
            <a:ext cx="9464937" cy="461665"/>
          </a:xfrm>
          <a:prstGeom prst="rect">
            <a:avLst/>
          </a:prstGeom>
          <a:noFill/>
        </p:spPr>
        <p:txBody>
          <a:bodyPr wrap="square">
            <a:spAutoFit/>
          </a:bodyPr>
          <a:lstStyle/>
          <a:p>
            <a:r>
              <a:rPr lang="en-US" sz="2400" b="1" dirty="0">
                <a:solidFill>
                  <a:srgbClr val="92D050"/>
                </a:solidFill>
              </a:rPr>
              <a:t>LinkedIn: https://www.linkedin.com/in/maxwere/</a:t>
            </a:r>
          </a:p>
        </p:txBody>
      </p:sp>
      <p:sp>
        <p:nvSpPr>
          <p:cNvPr id="7" name="TextBox 6">
            <a:extLst>
              <a:ext uri="{FF2B5EF4-FFF2-40B4-BE49-F238E27FC236}">
                <a16:creationId xmlns:a16="http://schemas.microsoft.com/office/drawing/2014/main" id="{2BAE6C77-A540-5F0B-CCC5-F6890BE02E6F}"/>
              </a:ext>
            </a:extLst>
          </p:cNvPr>
          <p:cNvSpPr txBox="1"/>
          <p:nvPr/>
        </p:nvSpPr>
        <p:spPr>
          <a:xfrm>
            <a:off x="1260434" y="3393074"/>
            <a:ext cx="6104964" cy="461665"/>
          </a:xfrm>
          <a:prstGeom prst="rect">
            <a:avLst/>
          </a:prstGeom>
          <a:noFill/>
        </p:spPr>
        <p:txBody>
          <a:bodyPr wrap="square">
            <a:spAutoFit/>
          </a:bodyPr>
          <a:lstStyle/>
          <a:p>
            <a:r>
              <a:rPr lang="en-US" sz="2400" b="1" dirty="0">
                <a:solidFill>
                  <a:srgbClr val="92D050"/>
                </a:solidFill>
              </a:rPr>
              <a:t>X: https://x.com/5thgenfinance</a:t>
            </a:r>
          </a:p>
        </p:txBody>
      </p:sp>
      <p:pic>
        <p:nvPicPr>
          <p:cNvPr id="8" name="Picture 7" descr="A qr code with a white background&#10;&#10;AI-generated content may be incorrect.">
            <a:extLst>
              <a:ext uri="{FF2B5EF4-FFF2-40B4-BE49-F238E27FC236}">
                <a16:creationId xmlns:a16="http://schemas.microsoft.com/office/drawing/2014/main" id="{EAEFEAFF-2233-75C6-49E9-6F0BF162F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8881" y="5092343"/>
            <a:ext cx="1072153" cy="1072153"/>
          </a:xfrm>
          <a:prstGeom prst="rect">
            <a:avLst/>
          </a:prstGeom>
        </p:spPr>
      </p:pic>
      <p:sp>
        <p:nvSpPr>
          <p:cNvPr id="10" name="TextBox 9">
            <a:extLst>
              <a:ext uri="{FF2B5EF4-FFF2-40B4-BE49-F238E27FC236}">
                <a16:creationId xmlns:a16="http://schemas.microsoft.com/office/drawing/2014/main" id="{DD6EBF52-ABB6-F3F2-9BB0-3F2FECDA2E5C}"/>
              </a:ext>
            </a:extLst>
          </p:cNvPr>
          <p:cNvSpPr txBox="1"/>
          <p:nvPr/>
        </p:nvSpPr>
        <p:spPr>
          <a:xfrm>
            <a:off x="1260435" y="4131421"/>
            <a:ext cx="10443883" cy="461665"/>
          </a:xfrm>
          <a:prstGeom prst="rect">
            <a:avLst/>
          </a:prstGeom>
          <a:noFill/>
        </p:spPr>
        <p:txBody>
          <a:bodyPr wrap="square">
            <a:spAutoFit/>
          </a:bodyPr>
          <a:lstStyle/>
          <a:p>
            <a:r>
              <a:rPr lang="en-US" sz="2400" b="1" dirty="0">
                <a:solidFill>
                  <a:srgbClr val="92D050"/>
                </a:solidFill>
              </a:rPr>
              <a:t>CRVM Calculator: https://5thgenfinance.github.io/dev/crvm-calculator/</a:t>
            </a:r>
          </a:p>
        </p:txBody>
      </p:sp>
      <p:sp>
        <p:nvSpPr>
          <p:cNvPr id="4" name="TextBox 3">
            <a:extLst>
              <a:ext uri="{FF2B5EF4-FFF2-40B4-BE49-F238E27FC236}">
                <a16:creationId xmlns:a16="http://schemas.microsoft.com/office/drawing/2014/main" id="{0D494312-3E80-6694-02D8-32EA7C3E1F1C}"/>
              </a:ext>
            </a:extLst>
          </p:cNvPr>
          <p:cNvSpPr txBox="1"/>
          <p:nvPr/>
        </p:nvSpPr>
        <p:spPr>
          <a:xfrm>
            <a:off x="1260435" y="4869768"/>
            <a:ext cx="10443883" cy="461665"/>
          </a:xfrm>
          <a:prstGeom prst="rect">
            <a:avLst/>
          </a:prstGeom>
          <a:noFill/>
        </p:spPr>
        <p:txBody>
          <a:bodyPr wrap="square">
            <a:spAutoFit/>
          </a:bodyPr>
          <a:lstStyle/>
          <a:p>
            <a:r>
              <a:rPr lang="en-US" sz="2400" b="1" dirty="0">
                <a:solidFill>
                  <a:srgbClr val="92D050"/>
                </a:solidFill>
              </a:rPr>
              <a:t>Email: Robert.Maxwell@5thgenfinance.com</a:t>
            </a:r>
          </a:p>
        </p:txBody>
      </p:sp>
      <p:sp>
        <p:nvSpPr>
          <p:cNvPr id="6" name="TextBox 5">
            <a:extLst>
              <a:ext uri="{FF2B5EF4-FFF2-40B4-BE49-F238E27FC236}">
                <a16:creationId xmlns:a16="http://schemas.microsoft.com/office/drawing/2014/main" id="{B3DA4013-2FF1-7952-62D3-AD1DAE191C1E}"/>
              </a:ext>
            </a:extLst>
          </p:cNvPr>
          <p:cNvSpPr txBox="1"/>
          <p:nvPr/>
        </p:nvSpPr>
        <p:spPr>
          <a:xfrm>
            <a:off x="1260434" y="2713578"/>
            <a:ext cx="9464937" cy="461665"/>
          </a:xfrm>
          <a:prstGeom prst="rect">
            <a:avLst/>
          </a:prstGeom>
          <a:noFill/>
        </p:spPr>
        <p:txBody>
          <a:bodyPr wrap="square">
            <a:spAutoFit/>
          </a:bodyPr>
          <a:lstStyle/>
          <a:p>
            <a:r>
              <a:rPr lang="en-US" sz="2400" b="1" dirty="0">
                <a:solidFill>
                  <a:srgbClr val="92D050"/>
                </a:solidFill>
              </a:rPr>
              <a:t>Demos on Agent Building: https://www.youtube.com/@5thgenfinance</a:t>
            </a:r>
          </a:p>
        </p:txBody>
      </p:sp>
    </p:spTree>
    <p:extLst>
      <p:ext uri="{BB962C8B-B14F-4D97-AF65-F5344CB8AC3E}">
        <p14:creationId xmlns:p14="http://schemas.microsoft.com/office/powerpoint/2010/main" val="2720176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_rels/theme3.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5G Title Dar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5th Generation" id="{E47B316B-EB89-4E0C-927E-D84AE0C90857}" vid="{5A4BCB8F-AD6D-4CE3-9C60-BA9361AF9D44}"/>
    </a:ext>
  </a:extLst>
</a:theme>
</file>

<file path=ppt/theme/theme2.xml><?xml version="1.0" encoding="utf-8"?>
<a:theme xmlns:a="http://schemas.openxmlformats.org/drawingml/2006/main" name="1_5G Title Dar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5th Generation" id="{E47B316B-EB89-4E0C-927E-D84AE0C90857}" vid="{65E56763-5C11-48FA-B878-7F1F3C8DF7D4}"/>
    </a:ext>
  </a:extLst>
</a:theme>
</file>

<file path=ppt/theme/theme3.xml><?xml version="1.0" encoding="utf-8"?>
<a:theme xmlns:a="http://schemas.openxmlformats.org/drawingml/2006/main" name="5GF Body Dark">
  <a:themeElements>
    <a:clrScheme name="5GF">
      <a:dk1>
        <a:srgbClr val="17212B"/>
      </a:dk1>
      <a:lt1>
        <a:srgbClr val="FFFFFF"/>
      </a:lt1>
      <a:dk2>
        <a:srgbClr val="17212B"/>
      </a:dk2>
      <a:lt2>
        <a:srgbClr val="EBEBEB"/>
      </a:lt2>
      <a:accent1>
        <a:srgbClr val="4A9924"/>
      </a:accent1>
      <a:accent2>
        <a:srgbClr val="9D7B4C"/>
      </a:accent2>
      <a:accent3>
        <a:srgbClr val="3AABD8"/>
      </a:accent3>
      <a:accent4>
        <a:srgbClr val="ABE54D"/>
      </a:accent4>
      <a:accent5>
        <a:srgbClr val="F9A33F"/>
      </a:accent5>
      <a:accent6>
        <a:srgbClr val="4686CC"/>
      </a:accent6>
      <a:hlink>
        <a:srgbClr val="B01329"/>
      </a:hlink>
      <a:folHlink>
        <a:srgbClr val="E44251"/>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5th Generation" id="{E47B316B-EB89-4E0C-927E-D84AE0C90857}" vid="{B06DEAE9-1141-4244-B1E2-945F66E2CDDC}"/>
    </a:ext>
  </a:extLst>
</a:theme>
</file>

<file path=ppt/theme/theme4.xml><?xml version="1.0" encoding="utf-8"?>
<a:theme xmlns:a="http://schemas.openxmlformats.org/drawingml/2006/main" name="5GF ligh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5th Generation" id="{E47B316B-EB89-4E0C-927E-D84AE0C90857}" vid="{6AE5DB7E-B8FA-49B6-87C7-F5851C5002B7}"/>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5th Generation</Template>
  <TotalTime>2071</TotalTime>
  <Words>1821</Words>
  <Application>Microsoft Office PowerPoint</Application>
  <PresentationFormat>Widescreen</PresentationFormat>
  <Paragraphs>312</Paragraphs>
  <Slides>15</Slides>
  <Notes>10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15</vt:i4>
      </vt:variant>
    </vt:vector>
  </HeadingPairs>
  <TitlesOfParts>
    <vt:vector size="25" baseType="lpstr">
      <vt:lpstr>Aptos</vt:lpstr>
      <vt:lpstr>Aptos Display</vt:lpstr>
      <vt:lpstr>Arial</vt:lpstr>
      <vt:lpstr>Audiowide</vt:lpstr>
      <vt:lpstr>Calibri</vt:lpstr>
      <vt:lpstr>Calibri Light</vt:lpstr>
      <vt:lpstr>5G Title Dark</vt:lpstr>
      <vt:lpstr>1_5G Title Dark</vt:lpstr>
      <vt:lpstr>5GF Body Dark</vt:lpstr>
      <vt:lpstr>5GF light</vt:lpstr>
      <vt:lpstr>Generative Context Engineering Simplified</vt:lpstr>
      <vt:lpstr>Robert Maxwell, ASA </vt:lpstr>
      <vt:lpstr>Apprehensive about integrating LLM into your work?</vt:lpstr>
      <vt:lpstr>Apprehension Vs Comprehension </vt:lpstr>
      <vt:lpstr>What is Context Engineering?</vt:lpstr>
      <vt:lpstr>Basic LLM Comprehension</vt:lpstr>
      <vt:lpstr>PowerPoint Presentation</vt:lpstr>
      <vt:lpstr>PowerPoint Presentation</vt:lpstr>
      <vt:lpstr>LLM Input Formats: Strengths &amp; Use Cases</vt:lpstr>
      <vt:lpstr>PowerPoint Presentation</vt:lpstr>
      <vt:lpstr>PowerPoint Presentation</vt:lpstr>
      <vt:lpstr>The Generative Part</vt:lpstr>
      <vt:lpstr>Software Development Workflow Case Study</vt:lpstr>
      <vt:lpstr>CRVM Demo Calculator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Maxwell</dc:creator>
  <cp:lastModifiedBy>Robert Maxwell</cp:lastModifiedBy>
  <cp:revision>17</cp:revision>
  <dcterms:created xsi:type="dcterms:W3CDTF">2025-12-02T20:56:28Z</dcterms:created>
  <dcterms:modified xsi:type="dcterms:W3CDTF">2025-12-08T22:38:16Z</dcterms:modified>
</cp:coreProperties>
</file>